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4610100" cy="3454400"/>
  <p:notesSz cx="6858000" cy="9144000"/>
  <p:embeddedFontLst>
    <p:embeddedFont>
      <p:font typeface="Open Sans" charset="1" panose="020B0606030504020204"/>
      <p:regular r:id="rId30"/>
    </p:embeddedFont>
    <p:embeddedFont>
      <p:font typeface="IBM Plex Sans Condensed" charset="1" panose="020B0506050203000203"/>
      <p:regular r:id="rId31"/>
    </p:embeddedFont>
    <p:embeddedFont>
      <p:font typeface="IBM Plex Sans" charset="1" panose="020B05030502030002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9.xml" Type="http://schemas.openxmlformats.org/officeDocument/2006/relationships/slide"/><Relationship Id="rId3" Target="slide11.xml" Type="http://schemas.openxmlformats.org/officeDocument/2006/relationships/slide"/><Relationship Id="rId4" Target="slide10.xml" Type="http://schemas.openxmlformats.org/officeDocument/2006/relationships/slide"/><Relationship Id="rId5" Target="slide1.xml" Type="http://schemas.openxmlformats.org/officeDocument/2006/relationships/slide"/><Relationship Id="rId6" Target="slide24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4.xml" Type="http://schemas.openxmlformats.org/officeDocument/2006/relationships/slide"/><Relationship Id="rId3" Target="slide16.xml" Type="http://schemas.openxmlformats.org/officeDocument/2006/relationships/slide"/><Relationship Id="rId4" Target="slide15.xml" Type="http://schemas.openxmlformats.org/officeDocument/2006/relationships/slide"/><Relationship Id="rId5" Target="slide1.xml" Type="http://schemas.openxmlformats.org/officeDocument/2006/relationships/slide"/><Relationship Id="rId6" Target="slide24.xml" Type="http://schemas.openxmlformats.org/officeDocument/2006/relationships/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slide16.xml" Type="http://schemas.openxmlformats.org/officeDocument/2006/relationships/slide"/><Relationship Id="rId4" Target="slide18.xml" Type="http://schemas.openxmlformats.org/officeDocument/2006/relationships/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Relationship Id="rId3" Target="slide19.xml" Type="http://schemas.openxmlformats.org/officeDocument/2006/relationships/slide"/><Relationship Id="rId4" Target="slide18.xml" Type="http://schemas.openxmlformats.org/officeDocument/2006/relationships/slide"/><Relationship Id="rId5" Target="slide1.xml" Type="http://schemas.openxmlformats.org/officeDocument/2006/relationships/slide"/><Relationship Id="rId6" Target="slide24.xml" Type="http://schemas.openxmlformats.org/officeDocument/2006/relationships/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8.xml" Type="http://schemas.openxmlformats.org/officeDocument/2006/relationships/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87517" y="343310"/>
            <a:ext cx="3093558" cy="43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sz="1434" spc="-4">
                <a:solidFill>
                  <a:srgbClr val="3333B3"/>
                </a:solidFill>
                <a:latin typeface="Open Sans"/>
                <a:ea typeface="Open Sans"/>
                <a:cs typeface="Open Sans"/>
                <a:sym typeface="Open Sans"/>
              </a:rPr>
              <a:t>Orthographic</a:t>
            </a:r>
            <a:r>
              <a:rPr lang="en-US" sz="1434" spc="-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34" spc="-4">
                <a:solidFill>
                  <a:srgbClr val="3333B3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1434" spc="-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34" spc="-4">
                <a:solidFill>
                  <a:srgbClr val="3333B3"/>
                </a:solidFill>
                <a:latin typeface="Open Sans"/>
                <a:ea typeface="Open Sans"/>
                <a:cs typeface="Open Sans"/>
                <a:sym typeface="Open Sans"/>
              </a:rPr>
              <a:t>Splatting</a:t>
            </a:r>
            <a:r>
              <a:rPr lang="en-US" sz="1434" spc="-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34" spc="-4">
                <a:solidFill>
                  <a:srgbClr val="3333B3"/>
                </a:solidFill>
                <a:latin typeface="Open Sans"/>
                <a:ea typeface="Open Sans"/>
                <a:cs typeface="Open Sans"/>
                <a:sym typeface="Open Sans"/>
              </a:rPr>
              <a:t>for Volumetric</a:t>
            </a:r>
            <a:r>
              <a:rPr lang="en-US" sz="1434" spc="-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34" spc="-4">
                <a:solidFill>
                  <a:srgbClr val="3333B3"/>
                </a:solidFill>
                <a:latin typeface="Open Sans"/>
                <a:ea typeface="Open Sans"/>
                <a:cs typeface="Open Sans"/>
                <a:sym typeface="Open Sans"/>
              </a:rPr>
              <a:t>Anatomical</a:t>
            </a:r>
            <a:r>
              <a:rPr lang="en-US" sz="1434" spc="-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434" spc="-4">
                <a:solidFill>
                  <a:srgbClr val="3333B3"/>
                </a:solidFill>
                <a:latin typeface="Open Sans"/>
                <a:ea typeface="Open Sans"/>
                <a:cs typeface="Open Sans"/>
                <a:sym typeface="Open Sans"/>
              </a:rPr>
              <a:t>Visualization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6101" y="1525657"/>
            <a:ext cx="1132570" cy="51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Tasrefee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Mahmood Ridun</a:t>
            </a:r>
          </a:p>
          <a:p>
            <a:pPr algn="ctr">
              <a:lnSpc>
                <a:spcPts val="1527"/>
              </a:lnSpc>
            </a:pPr>
            <a:r>
              <a:rPr lang="en-US" sz="1090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200042150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4713" y="1525657"/>
            <a:ext cx="1140904" cy="51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Mushfiqur Rahman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Mushfique</a:t>
            </a:r>
          </a:p>
          <a:p>
            <a:pPr algn="ctr">
              <a:lnSpc>
                <a:spcPts val="1527"/>
              </a:lnSpc>
            </a:pPr>
            <a:r>
              <a:rPr lang="en-US" sz="1090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200042160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8186" y="2552614"/>
            <a:ext cx="3377841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Tareque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Mohmud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Chowdhury Assistant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Professor Department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Computer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Science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Engineering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(CSE) Islamic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University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Technology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(IUT),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20945" y="1525657"/>
            <a:ext cx="1133866" cy="51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Kazi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Jawadul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Islam Jishan</a:t>
            </a:r>
          </a:p>
          <a:p>
            <a:pPr algn="ctr">
              <a:lnSpc>
                <a:spcPts val="1527"/>
              </a:lnSpc>
            </a:pPr>
            <a:r>
              <a:rPr lang="en-US" sz="1090" spc="-1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200042165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76159" y="2361495"/>
            <a:ext cx="148131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7"/>
              </a:lnSpc>
            </a:pP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Under</a:t>
            </a: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supervision</a:t>
            </a: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1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318234" y="1376601"/>
            <a:ext cx="933098" cy="933098"/>
          </a:xfrm>
          <a:custGeom>
            <a:avLst/>
            <a:gdLst/>
            <a:ahLst/>
            <a:cxnLst/>
            <a:rect r="r" b="b" t="t" l="l"/>
            <a:pathLst>
              <a:path h="933098" w="933098">
                <a:moveTo>
                  <a:pt x="0" y="0"/>
                </a:moveTo>
                <a:lnTo>
                  <a:pt x="933097" y="0"/>
                </a:lnTo>
                <a:lnTo>
                  <a:pt x="933097" y="933097"/>
                </a:lnTo>
                <a:lnTo>
                  <a:pt x="0" y="9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004" y="78172"/>
            <a:ext cx="250669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Research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Objectives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&amp;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Questions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093" y="690477"/>
            <a:ext cx="2390089" cy="88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Research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Objective: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Investigate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</a:t>
            </a:r>
          </a:p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feasibility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 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imagery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(CT scans).</a:t>
            </a:r>
          </a:p>
          <a:p>
            <a:pPr algn="l">
              <a:lnSpc>
                <a:spcPts val="1952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Research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Questions: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4185" y="1625451"/>
            <a:ext cx="2094976" cy="135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</a:t>
            </a:r>
          </a:p>
          <a:p>
            <a:pPr algn="l">
              <a:lnSpc>
                <a:spcPts val="15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imaging?</a:t>
            </a:r>
          </a:p>
          <a:p>
            <a:pPr algn="l">
              <a:lnSpc>
                <a:spcPts val="115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What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arise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terms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l">
              <a:lnSpc>
                <a:spcPts val="15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calibration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</a:p>
          <a:p>
            <a:pPr algn="l">
              <a:lnSpc>
                <a:spcPts val="11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alignment?</a:t>
            </a:r>
          </a:p>
          <a:p>
            <a:pPr algn="l">
              <a:lnSpc>
                <a:spcPts val="15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improve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</a:p>
          <a:p>
            <a:pPr algn="l">
              <a:lnSpc>
                <a:spcPts val="11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accuracy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reconstructions</a:t>
            </a:r>
          </a:p>
          <a:p>
            <a:pPr algn="l">
              <a:lnSpc>
                <a:spcPts val="15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traditional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201591" y="1528734"/>
            <a:ext cx="1399356" cy="769715"/>
          </a:xfrm>
          <a:custGeom>
            <a:avLst/>
            <a:gdLst/>
            <a:ahLst/>
            <a:cxnLst/>
            <a:rect r="r" b="b" t="t" l="l"/>
            <a:pathLst>
              <a:path h="769715" w="1399356">
                <a:moveTo>
                  <a:pt x="0" y="0"/>
                </a:moveTo>
                <a:lnTo>
                  <a:pt x="1399355" y="0"/>
                </a:lnTo>
                <a:lnTo>
                  <a:pt x="1399355" y="769715"/>
                </a:lnTo>
                <a:lnTo>
                  <a:pt x="0" y="769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004" y="78172"/>
            <a:ext cx="2612860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Introduction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093" y="733977"/>
            <a:ext cx="1831219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What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Splatting?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7093" y="2020814"/>
            <a:ext cx="1998993" cy="33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it’s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important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 imaging?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4185" y="2382564"/>
            <a:ext cx="2000774" cy="51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Could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offer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dynamic,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interactive way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complex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 datasets,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4185" y="942699"/>
            <a:ext cx="2210781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technique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 representing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 Gaussians. Commonly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computer graphics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realistic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 mo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deling.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286865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Primary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Elements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997" y="504387"/>
            <a:ext cx="3538385" cy="19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consists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following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primary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elements: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712603"/>
            <a:ext cx="3683156" cy="237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Mean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(Center):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central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location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</a:p>
          <a:p>
            <a:pPr algn="just">
              <a:lnSpc>
                <a:spcPts val="10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function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space,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typically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defined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position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just">
              <a:lnSpc>
                <a:spcPts val="16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splat. Covariance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Matrix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(Shape):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Describes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spread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</a:p>
          <a:p>
            <a:pPr algn="just">
              <a:lnSpc>
                <a:spcPts val="10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orientation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distribution.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defines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</a:p>
          <a:p>
            <a:pPr algn="just">
              <a:lnSpc>
                <a:spcPts val="16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will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deform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influence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surrounding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areas. Weight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(Intensity):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magnitude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intensity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splat,</a:t>
            </a:r>
          </a:p>
          <a:p>
            <a:pPr algn="just">
              <a:lnSpc>
                <a:spcPts val="10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which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determines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effect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surrounding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environment.</a:t>
            </a:r>
          </a:p>
          <a:p>
            <a:pPr algn="just">
              <a:lnSpc>
                <a:spcPts val="16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weight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stronger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influence. Radius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(Spread):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typically</a:t>
            </a:r>
          </a:p>
          <a:p>
            <a:pPr algn="just">
              <a:lnSpc>
                <a:spcPts val="10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defined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standard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deviation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larger</a:t>
            </a:r>
          </a:p>
          <a:p>
            <a:pPr algn="just">
              <a:lnSpc>
                <a:spcPts val="16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radius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means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broader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influence,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while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smaller</a:t>
            </a:r>
          </a:p>
          <a:p>
            <a:pPr algn="just">
              <a:lnSpc>
                <a:spcPts val="10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radius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creates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focused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201591" y="1331871"/>
            <a:ext cx="1166203" cy="987847"/>
          </a:xfrm>
          <a:custGeom>
            <a:avLst/>
            <a:gdLst/>
            <a:ahLst/>
            <a:cxnLst/>
            <a:rect r="r" b="b" t="t" l="l"/>
            <a:pathLst>
              <a:path h="987847" w="1166203">
                <a:moveTo>
                  <a:pt x="0" y="0"/>
                </a:moveTo>
                <a:lnTo>
                  <a:pt x="1166203" y="0"/>
                </a:lnTo>
                <a:lnTo>
                  <a:pt x="1166203" y="987847"/>
                </a:lnTo>
                <a:lnTo>
                  <a:pt x="0" y="987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004" y="78172"/>
            <a:ext cx="1547927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Research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093" y="2008689"/>
            <a:ext cx="334851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7093" y="759962"/>
            <a:ext cx="1954635" cy="33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Current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Challenges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 Imaging: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4185" y="1121712"/>
            <a:ext cx="2185854" cy="8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 data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limited. Traditional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rasterization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techniques often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fail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provide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sufficient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detail 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realism.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4185" y="2084060"/>
            <a:ext cx="2116665" cy="81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address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limitations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offering</a:t>
            </a:r>
          </a:p>
          <a:p>
            <a:pPr algn="just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realistic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flexible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way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3683803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1.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Cinematic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(Cinematic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997" y="562594"/>
            <a:ext cx="3908136" cy="251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Cinematic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compresses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large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CT/MRI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into lightweight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representations,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enabling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real-time, photorealistic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rendering.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High-resolution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offline using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tracing,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optimized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techniques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 Mip-splatting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level-of-detail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optimization.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compact models,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typically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under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70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MB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multi-gigabyte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datasets, maintain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details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comparable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original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voxel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resolution 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achieve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FPS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mobile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hardware. 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involves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poses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anatomical structure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capture,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differentiable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 compression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vector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quantization).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Strengths: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fidelity,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memory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footprint.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Limitations: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Baked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parameters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(transfer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functions,</a:t>
            </a:r>
          </a:p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lighting),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changes.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3041056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2.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GaSpCT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997" y="520122"/>
            <a:ext cx="3421809" cy="34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GaSpCT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applies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sparse-view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 reconstruction.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techniques: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845077"/>
            <a:ext cx="3661515" cy="78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Specialized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loss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functions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like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sparsity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total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variation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loss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foreground/background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separation.</a:t>
            </a:r>
          </a:p>
          <a:p>
            <a:pPr algn="l">
              <a:lnSpc>
                <a:spcPts val="2550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Uniform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initialization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expected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9997" y="1533096"/>
            <a:ext cx="3835565" cy="161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GaSpCT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avoids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traditional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Structure-from-Motion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(SfM)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approaches,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allowing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interpolation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between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views,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reducing</a:t>
            </a:r>
          </a:p>
          <a:p>
            <a:pPr algn="l">
              <a:lnSpc>
                <a:spcPts val="216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time,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minimizing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radiation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exposure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without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sacrificing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quality.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Strengths: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Efficient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reduced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burden.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Limitations: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Primarily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validated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simulated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</a:p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real-world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patient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motion,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curved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detectors)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addressed.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2555662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3.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Multi-Layer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997" y="436112"/>
            <a:ext cx="3816906" cy="51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Multi-Layer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builds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cinematic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approach,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enabling immersive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layered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 models.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stages: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933136"/>
            <a:ext cx="3669497" cy="116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transfer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function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bones)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first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layer.</a:t>
            </a:r>
          </a:p>
          <a:p>
            <a:pPr algn="l">
              <a:lnSpc>
                <a:spcPts val="2550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second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transfer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function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muscles)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second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layer.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Prune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inactive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cluster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similar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layers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compression.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9997" y="2003269"/>
            <a:ext cx="3695900" cy="127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During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rendering,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toggle,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clip,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combine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layers</a:t>
            </a:r>
          </a:p>
          <a:p>
            <a:pPr algn="l">
              <a:lnSpc>
                <a:spcPts val="545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without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retraining,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enhancing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interactive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experience.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Strengths: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Interactive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frame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rates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hardware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good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detail.</a:t>
            </a:r>
          </a:p>
          <a:p>
            <a:pPr algn="l">
              <a:lnSpc>
                <a:spcPts val="216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Limitations: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Static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model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structure,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potential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artifacts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when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overlapping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layers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zooming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low-contrast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regions.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94192" y="351701"/>
            <a:ext cx="3819630" cy="2701785"/>
            <a:chOff x="0" y="0"/>
            <a:chExt cx="3819627" cy="27017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8580"/>
              <a:ext cx="5080" cy="120142"/>
            </a:xfrm>
            <a:custGeom>
              <a:avLst/>
              <a:gdLst/>
              <a:ahLst/>
              <a:cxnLst/>
              <a:rect r="r" b="b" t="t" l="l"/>
              <a:pathLst>
                <a:path h="120142" w="5080">
                  <a:moveTo>
                    <a:pt x="0" y="12014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201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904367" y="68580"/>
              <a:ext cx="5080" cy="120142"/>
            </a:xfrm>
            <a:custGeom>
              <a:avLst/>
              <a:gdLst/>
              <a:ahLst/>
              <a:cxnLst/>
              <a:rect r="r" b="b" t="t" l="l"/>
              <a:pathLst>
                <a:path h="120142" w="5080">
                  <a:moveTo>
                    <a:pt x="0" y="12014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201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3311" y="68580"/>
              <a:ext cx="5080" cy="120142"/>
            </a:xfrm>
            <a:custGeom>
              <a:avLst/>
              <a:gdLst/>
              <a:ahLst/>
              <a:cxnLst/>
              <a:rect r="r" b="b" t="t" l="l"/>
              <a:pathLst>
                <a:path h="120142" w="5080">
                  <a:moveTo>
                    <a:pt x="0" y="12014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201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02128" y="68580"/>
              <a:ext cx="5080" cy="120142"/>
            </a:xfrm>
            <a:custGeom>
              <a:avLst/>
              <a:gdLst/>
              <a:ahLst/>
              <a:cxnLst/>
              <a:rect r="r" b="b" t="t" l="l"/>
              <a:pathLst>
                <a:path h="120142" w="5080">
                  <a:moveTo>
                    <a:pt x="0" y="12014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201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751072" y="68580"/>
              <a:ext cx="5080" cy="120142"/>
            </a:xfrm>
            <a:custGeom>
              <a:avLst/>
              <a:gdLst/>
              <a:ahLst/>
              <a:cxnLst/>
              <a:rect r="r" b="b" t="t" l="l"/>
              <a:pathLst>
                <a:path h="120142" w="5080">
                  <a:moveTo>
                    <a:pt x="0" y="12014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1201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188722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193802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04367" y="193802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3311" y="193802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802128" y="193802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751072" y="193802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434213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439293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04367" y="439293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3311" y="439293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802128" y="439293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751072" y="439293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679704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684784"/>
              <a:ext cx="5080" cy="240284"/>
            </a:xfrm>
            <a:custGeom>
              <a:avLst/>
              <a:gdLst/>
              <a:ahLst/>
              <a:cxnLst/>
              <a:rect r="r" b="b" t="t" l="l"/>
              <a:pathLst>
                <a:path h="240284" w="5080">
                  <a:moveTo>
                    <a:pt x="0" y="24028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2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904367" y="684784"/>
              <a:ext cx="5080" cy="240284"/>
            </a:xfrm>
            <a:custGeom>
              <a:avLst/>
              <a:gdLst/>
              <a:ahLst/>
              <a:cxnLst/>
              <a:rect r="r" b="b" t="t" l="l"/>
              <a:pathLst>
                <a:path h="240284" w="5080">
                  <a:moveTo>
                    <a:pt x="0" y="24028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2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853311" y="684784"/>
              <a:ext cx="5080" cy="240284"/>
            </a:xfrm>
            <a:custGeom>
              <a:avLst/>
              <a:gdLst/>
              <a:ahLst/>
              <a:cxnLst/>
              <a:rect r="r" b="b" t="t" l="l"/>
              <a:pathLst>
                <a:path h="240284" w="5080">
                  <a:moveTo>
                    <a:pt x="0" y="24028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2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802128" y="684784"/>
              <a:ext cx="5080" cy="240284"/>
            </a:xfrm>
            <a:custGeom>
              <a:avLst/>
              <a:gdLst/>
              <a:ahLst/>
              <a:cxnLst/>
              <a:rect r="r" b="b" t="t" l="l"/>
              <a:pathLst>
                <a:path h="240284" w="5080">
                  <a:moveTo>
                    <a:pt x="0" y="24028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2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751072" y="684784"/>
              <a:ext cx="5080" cy="240284"/>
            </a:xfrm>
            <a:custGeom>
              <a:avLst/>
              <a:gdLst/>
              <a:ahLst/>
              <a:cxnLst/>
              <a:rect r="r" b="b" t="t" l="l"/>
              <a:pathLst>
                <a:path h="240284" w="5080">
                  <a:moveTo>
                    <a:pt x="0" y="24028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2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925195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500" y="930148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904367" y="930148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53311" y="930148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802128" y="930148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751072" y="930148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63500" y="1290828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500" y="1295781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904367" y="1295781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853311" y="1295781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802128" y="1295781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751072" y="1295781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3500" y="1656461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63500" y="1661541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904367" y="1661541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853311" y="1661541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802128" y="1661541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3751072" y="1661541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63500" y="2022094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63500" y="2027174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904367" y="2027174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853311" y="2027174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802128" y="2027174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3751072" y="2027174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63500" y="2267585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63500" y="2272665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904367" y="2272665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853311" y="2272665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802128" y="2272665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3751072" y="2272665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63500" y="2633218"/>
              <a:ext cx="3692652" cy="5080"/>
            </a:xfrm>
            <a:custGeom>
              <a:avLst/>
              <a:gdLst/>
              <a:ahLst/>
              <a:cxnLst/>
              <a:rect r="r" b="b" t="t" l="l"/>
              <a:pathLst>
                <a:path h="5080" w="3692652">
                  <a:moveTo>
                    <a:pt x="0" y="0"/>
                  </a:moveTo>
                  <a:lnTo>
                    <a:pt x="3692652" y="0"/>
                  </a:lnTo>
                  <a:lnTo>
                    <a:pt x="3692652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0" id="70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108004" y="78172"/>
            <a:ext cx="439424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Comparative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Summary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38667" y="419005"/>
            <a:ext cx="383143" cy="24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Asp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ect Purp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38667" y="694468"/>
            <a:ext cx="519703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38667" y="939927"/>
            <a:ext cx="527247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Size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38667" y="1185386"/>
            <a:ext cx="453933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Strengths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38667" y="1627241"/>
            <a:ext cx="524513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Limitations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38667" y="2011947"/>
            <a:ext cx="697716" cy="23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Rendering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Per- formance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38667" y="2282361"/>
            <a:ext cx="565956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Interactivity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38667" y="2527821"/>
            <a:ext cx="592931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Compression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79553" y="399955"/>
            <a:ext cx="807863" cy="75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Cinematic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GS</a:t>
            </a:r>
          </a:p>
          <a:p>
            <a:pPr algn="l">
              <a:lnSpc>
                <a:spcPts val="973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photo- realistic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rendering High-resolution</a:t>
            </a:r>
          </a:p>
          <a:p>
            <a:pPr algn="l">
              <a:lnSpc>
                <a:spcPts val="867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CT/MRI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scans</a:t>
            </a:r>
          </a:p>
          <a:p>
            <a:pPr algn="l">
              <a:lnSpc>
                <a:spcPts val="110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&lt;70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MB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328443" y="399955"/>
            <a:ext cx="807891" cy="148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GaSpCT</a:t>
            </a:r>
          </a:p>
          <a:p>
            <a:pPr algn="l">
              <a:lnSpc>
                <a:spcPts val="973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Sparse-view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reconstruction Sparse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X-ray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pro-</a:t>
            </a:r>
          </a:p>
          <a:p>
            <a:pPr algn="l">
              <a:lnSpc>
                <a:spcPts val="867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jections</a:t>
            </a:r>
          </a:p>
          <a:p>
            <a:pPr algn="l">
              <a:lnSpc>
                <a:spcPts val="110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Variable,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depends</a:t>
            </a:r>
          </a:p>
          <a:p>
            <a:pPr algn="l">
              <a:lnSpc>
                <a:spcPts val="78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</a:p>
          <a:p>
            <a:pPr algn="l">
              <a:lnSpc>
                <a:spcPts val="118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707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radia-</a:t>
            </a:r>
          </a:p>
          <a:p>
            <a:pPr algn="l">
              <a:lnSpc>
                <a:spcPts val="1185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tion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exposure</a:t>
            </a:r>
          </a:p>
          <a:p>
            <a:pPr algn="l">
              <a:lnSpc>
                <a:spcPts val="787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sim-</a:t>
            </a:r>
          </a:p>
          <a:p>
            <a:pPr algn="l">
              <a:lnSpc>
                <a:spcPts val="110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ulated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only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277333" y="399955"/>
            <a:ext cx="807806" cy="5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Multi-Layer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GS</a:t>
            </a:r>
          </a:p>
          <a:p>
            <a:pPr algn="l">
              <a:lnSpc>
                <a:spcPts val="973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Immersive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ex- ploration CT/MRI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79553" y="1186586"/>
            <a:ext cx="807844" cy="33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fidelity,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memory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footprint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79553" y="1552242"/>
            <a:ext cx="500263" cy="33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Fixed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parameters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756448" y="1552242"/>
            <a:ext cx="423386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rendering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79553" y="1917906"/>
            <a:ext cx="807834" cy="33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60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FPS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mo-</a:t>
            </a:r>
          </a:p>
          <a:p>
            <a:pPr algn="just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bile/VR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hardware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79553" y="2283562"/>
            <a:ext cx="186471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79553" y="2529030"/>
            <a:ext cx="640023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Mip-splatting,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79553" y="2801617"/>
            <a:ext cx="303171" cy="17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vector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754562" y="2801617"/>
            <a:ext cx="425348" cy="5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quantiza-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978267" y="545459"/>
            <a:ext cx="145009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924213" y="1262786"/>
            <a:ext cx="200139" cy="13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8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328443" y="1917906"/>
            <a:ext cx="807844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quality,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de-</a:t>
            </a:r>
          </a:p>
          <a:p>
            <a:pPr algn="just">
              <a:lnSpc>
                <a:spcPts val="398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pends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recon-</a:t>
            </a:r>
          </a:p>
          <a:p>
            <a:pPr algn="just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struction</a:t>
            </a:r>
          </a:p>
          <a:p>
            <a:pPr algn="just">
              <a:lnSpc>
                <a:spcPts val="47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328443" y="2529030"/>
            <a:ext cx="807796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(sparse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277333" y="941127"/>
            <a:ext cx="807853" cy="457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Varies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layers</a:t>
            </a:r>
          </a:p>
          <a:p>
            <a:pPr algn="l">
              <a:lnSpc>
                <a:spcPts val="157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3277333" y="1224686"/>
            <a:ext cx="807815" cy="102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VR,</a:t>
            </a:r>
          </a:p>
          <a:p>
            <a:pPr algn="l">
              <a:lnSpc>
                <a:spcPts val="398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good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anatomical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detail</a:t>
            </a:r>
          </a:p>
          <a:p>
            <a:pPr algn="l">
              <a:lnSpc>
                <a:spcPts val="478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Static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1414"/>
              </a:lnSpc>
            </a:pPr>
            <a:r>
              <a:rPr lang="en-US" sz="797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structure,</a:t>
            </a:r>
            <a:r>
              <a:rPr lang="en-US" sz="797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47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artifacts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rates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798199" y="1695117"/>
            <a:ext cx="276549" cy="18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</a:t>
            </a:r>
          </a:p>
          <a:p>
            <a:pPr algn="l">
              <a:lnSpc>
                <a:spcPts val="1414"/>
              </a:lnSpc>
            </a:pPr>
            <a:r>
              <a:rPr lang="en-US" sz="797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possi-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277333" y="2283562"/>
            <a:ext cx="807872" cy="57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toggle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lay-</a:t>
            </a:r>
          </a:p>
          <a:p>
            <a:pPr algn="just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</a:t>
            </a:r>
          </a:p>
          <a:p>
            <a:pPr algn="just">
              <a:lnSpc>
                <a:spcPts val="157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Layer-based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prun-</a:t>
            </a:r>
          </a:p>
          <a:p>
            <a:pPr algn="just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clustering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59997" y="3064459"/>
            <a:ext cx="3965810" cy="15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Table: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Comparison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296494" y="409375"/>
            <a:ext cx="4372537" cy="2806798"/>
            <a:chOff x="0" y="0"/>
            <a:chExt cx="4372534" cy="28068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52399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65275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478151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391027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304030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308991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52399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565275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478151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391027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4304030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794766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799846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52399" y="799846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565275" y="799846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478151" y="799846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391027" y="799846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304030" y="799846"/>
              <a:ext cx="5080" cy="360680"/>
            </a:xfrm>
            <a:custGeom>
              <a:avLst/>
              <a:gdLst/>
              <a:ahLst/>
              <a:cxnLst/>
              <a:rect r="r" b="b" t="t" l="l"/>
              <a:pathLst>
                <a:path h="360680" w="5080">
                  <a:moveTo>
                    <a:pt x="0" y="360680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500" y="1160526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0" y="1165479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52399" y="1165479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565275" y="1165479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478151" y="1165479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391027" y="1165479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304030" y="1165479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3500" y="1646301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3500" y="1651381"/>
              <a:ext cx="5080" cy="600964"/>
            </a:xfrm>
            <a:custGeom>
              <a:avLst/>
              <a:gdLst/>
              <a:ahLst/>
              <a:cxnLst/>
              <a:rect r="r" b="b" t="t" l="l"/>
              <a:pathLst>
                <a:path h="600964" w="5080">
                  <a:moveTo>
                    <a:pt x="0" y="60096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6009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52399" y="1651381"/>
              <a:ext cx="5080" cy="600964"/>
            </a:xfrm>
            <a:custGeom>
              <a:avLst/>
              <a:gdLst/>
              <a:ahLst/>
              <a:cxnLst/>
              <a:rect r="r" b="b" t="t" l="l"/>
              <a:pathLst>
                <a:path h="600964" w="5080">
                  <a:moveTo>
                    <a:pt x="0" y="60096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6009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565275" y="1651381"/>
              <a:ext cx="5080" cy="600964"/>
            </a:xfrm>
            <a:custGeom>
              <a:avLst/>
              <a:gdLst/>
              <a:ahLst/>
              <a:cxnLst/>
              <a:rect r="r" b="b" t="t" l="l"/>
              <a:pathLst>
                <a:path h="600964" w="5080">
                  <a:moveTo>
                    <a:pt x="0" y="60096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6009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478151" y="1651381"/>
              <a:ext cx="5080" cy="600964"/>
            </a:xfrm>
            <a:custGeom>
              <a:avLst/>
              <a:gdLst/>
              <a:ahLst/>
              <a:cxnLst/>
              <a:rect r="r" b="b" t="t" l="l"/>
              <a:pathLst>
                <a:path h="600964" w="5080">
                  <a:moveTo>
                    <a:pt x="0" y="60096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6009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391027" y="1651381"/>
              <a:ext cx="5080" cy="600964"/>
            </a:xfrm>
            <a:custGeom>
              <a:avLst/>
              <a:gdLst/>
              <a:ahLst/>
              <a:cxnLst/>
              <a:rect r="r" b="b" t="t" l="l"/>
              <a:pathLst>
                <a:path h="600964" w="5080">
                  <a:moveTo>
                    <a:pt x="0" y="60096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6009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4304030" y="1651381"/>
              <a:ext cx="5080" cy="600964"/>
            </a:xfrm>
            <a:custGeom>
              <a:avLst/>
              <a:gdLst/>
              <a:ahLst/>
              <a:cxnLst/>
              <a:rect r="r" b="b" t="t" l="l"/>
              <a:pathLst>
                <a:path h="600964" w="5080">
                  <a:moveTo>
                    <a:pt x="0" y="600964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6009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63500" y="2252345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63500" y="2257425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652399" y="2257425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565275" y="2257425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478151" y="2257425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3391027" y="2257425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4304030" y="2257425"/>
              <a:ext cx="5080" cy="480822"/>
            </a:xfrm>
            <a:custGeom>
              <a:avLst/>
              <a:gdLst/>
              <a:ahLst/>
              <a:cxnLst/>
              <a:rect r="r" b="b" t="t" l="l"/>
              <a:pathLst>
                <a:path h="480822" w="5080">
                  <a:moveTo>
                    <a:pt x="0" y="480822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8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63500" y="2738247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08004" y="78172"/>
            <a:ext cx="4479798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Comparison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(Part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40979" y="381410"/>
            <a:ext cx="325355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Asp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0979" y="626878"/>
            <a:ext cx="383143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Purp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0979" y="1207980"/>
            <a:ext cx="249660" cy="23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 Data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40979" y="1478385"/>
            <a:ext cx="436140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40979" y="2040446"/>
            <a:ext cx="453933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Strengths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0979" y="2646502"/>
            <a:ext cx="524513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Limitations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9872" y="476660"/>
            <a:ext cx="226219" cy="1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80506" y="476660"/>
            <a:ext cx="413442" cy="1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9872" y="596865"/>
            <a:ext cx="736321" cy="24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Splatting General-purp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942757" y="457610"/>
            <a:ext cx="648624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Cinematic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855662" y="457610"/>
            <a:ext cx="399202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GaSpCT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768547" y="457610"/>
            <a:ext cx="718509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Multi-Layer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29872" y="2666762"/>
            <a:ext cx="771163" cy="4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memory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us- age,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slower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ren- dering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large volumes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29872" y="843524"/>
            <a:ext cx="771115" cy="48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ting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visualization Full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volumet-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37125" y="843524"/>
            <a:ext cx="253746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splat-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9872" y="1338910"/>
            <a:ext cx="138560" cy="1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ric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47556" y="1338910"/>
            <a:ext cx="227819" cy="1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552842" y="1338910"/>
            <a:ext cx="237668" cy="1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(e.g.,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29872" y="1449581"/>
            <a:ext cx="771134" cy="3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voxel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grids) Visualization of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volumes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29872" y="1815236"/>
            <a:ext cx="736321" cy="48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(medical,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logical,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etc.) General-purp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ose flexibility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594628" y="1815236"/>
            <a:ext cx="195024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geo-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942757" y="723328"/>
            <a:ext cx="771106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Real-time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photo-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942757" y="843524"/>
            <a:ext cx="374028" cy="23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realistic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382784" y="843524"/>
            <a:ext cx="322288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render-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942757" y="1113930"/>
            <a:ext cx="694887" cy="33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High-resolution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CT/MRI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942757" y="1479585"/>
            <a:ext cx="771144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render-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942757" y="1752190"/>
            <a:ext cx="495395" cy="179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ism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246566" y="1752190"/>
            <a:ext cx="461267" cy="5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photoreal-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942757" y="1965455"/>
            <a:ext cx="771125" cy="93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compact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resentation,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mobile/VR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ren-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dering</a:t>
            </a:r>
          </a:p>
          <a:p>
            <a:pPr algn="l">
              <a:lnSpc>
                <a:spcPts val="47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Fixed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141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parameters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2380174" y="1965455"/>
            <a:ext cx="324983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fidelity,</a:t>
            </a:r>
          </a:p>
          <a:p>
            <a:pPr algn="r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rep-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283714" y="2714387"/>
            <a:ext cx="423386" cy="6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rendering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855662" y="2666762"/>
            <a:ext cx="435854" cy="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Validated simulated only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855662" y="723328"/>
            <a:ext cx="771068" cy="2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Sparse-view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 reconstruction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3413950" y="2666762"/>
            <a:ext cx="201692" cy="2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 data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855662" y="1209180"/>
            <a:ext cx="491919" cy="23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Sparse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projections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369116" y="1209180"/>
            <a:ext cx="247412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X-ray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855662" y="1479585"/>
            <a:ext cx="648272" cy="33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reconstruction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469510" y="1479585"/>
            <a:ext cx="145009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855662" y="1767611"/>
            <a:ext cx="223523" cy="16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264941" y="1767611"/>
            <a:ext cx="353644" cy="16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reduced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855662" y="1992592"/>
            <a:ext cx="771115" cy="42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</a:t>
            </a:r>
          </a:p>
          <a:p>
            <a:pPr algn="l">
              <a:lnSpc>
                <a:spcPts val="157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Reduced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radia-</a:t>
            </a:r>
          </a:p>
          <a:p>
            <a:pPr algn="l">
              <a:lnSpc>
                <a:spcPts val="1494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tion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exposure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415398" y="2003555"/>
            <a:ext cx="200139" cy="1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7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3768547" y="723328"/>
            <a:ext cx="501320" cy="2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Immersive exploration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768547" y="1190130"/>
            <a:ext cx="675770" cy="13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CT/MRI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scans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4383300" y="704278"/>
            <a:ext cx="144113" cy="13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768547" y="2060705"/>
            <a:ext cx="479479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768547" y="2180892"/>
            <a:ext cx="200749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3768547" y="2180892"/>
            <a:ext cx="771163" cy="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multiple anatomical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lay- ers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768547" y="2571512"/>
            <a:ext cx="293970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Static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3768547" y="2571512"/>
            <a:ext cx="771163" cy="45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2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model,</a:t>
            </a:r>
          </a:p>
          <a:p>
            <a:pPr algn="just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possible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artifacts</a:t>
            </a:r>
          </a:p>
          <a:p>
            <a:pPr algn="just">
              <a:lnSpc>
                <a:spcPts val="1494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zoom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3768547" y="1574835"/>
            <a:ext cx="170278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036866" y="1574835"/>
            <a:ext cx="497415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anatomical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768547" y="1695040"/>
            <a:ext cx="501320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exploration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83276" y="3234166"/>
            <a:ext cx="3918290" cy="15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4"/>
              </a:lnSpc>
            </a:pPr>
            <a:r>
              <a:rPr lang="en-US" sz="996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Table: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Comparison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plat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tin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Pi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p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elin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(P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art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1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296494" y="851344"/>
            <a:ext cx="4372537" cy="1474480"/>
            <a:chOff x="0" y="0"/>
            <a:chExt cx="4372534" cy="14744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0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52399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65275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478151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391027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304030" y="68580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308991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52399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565275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478151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391027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4304030" y="314071"/>
              <a:ext cx="5080" cy="480695"/>
            </a:xfrm>
            <a:custGeom>
              <a:avLst/>
              <a:gdLst/>
              <a:ahLst/>
              <a:cxnLst/>
              <a:rect r="r" b="b" t="t" l="l"/>
              <a:pathLst>
                <a:path h="480695" w="5080">
                  <a:moveTo>
                    <a:pt x="0" y="480695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4806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794766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799846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52399" y="799846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565275" y="799846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478151" y="799846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391027" y="799846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304030" y="799846"/>
              <a:ext cx="5080" cy="240411"/>
            </a:xfrm>
            <a:custGeom>
              <a:avLst/>
              <a:gdLst/>
              <a:ahLst/>
              <a:cxnLst/>
              <a:rect r="r" b="b" t="t" l="l"/>
              <a:pathLst>
                <a:path h="240411" w="5080">
                  <a:moveTo>
                    <a:pt x="0" y="240411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24041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500" y="1040257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500" y="1045337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52399" y="1045337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565275" y="1045337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478151" y="1045337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391027" y="1045337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304030" y="1045337"/>
              <a:ext cx="5080" cy="360553"/>
            </a:xfrm>
            <a:custGeom>
              <a:avLst/>
              <a:gdLst/>
              <a:ahLst/>
              <a:cxnLst/>
              <a:rect r="r" b="b" t="t" l="l"/>
              <a:pathLst>
                <a:path h="360553" w="5080">
                  <a:moveTo>
                    <a:pt x="0" y="360553"/>
                  </a:moveTo>
                  <a:lnTo>
                    <a:pt x="0" y="0"/>
                  </a:lnTo>
                  <a:lnTo>
                    <a:pt x="5080" y="0"/>
                  </a:lnTo>
                  <a:lnTo>
                    <a:pt x="5080" y="3605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3500" y="1405890"/>
              <a:ext cx="4245483" cy="5080"/>
            </a:xfrm>
            <a:custGeom>
              <a:avLst/>
              <a:gdLst/>
              <a:ahLst/>
              <a:cxnLst/>
              <a:rect r="r" b="b" t="t" l="l"/>
              <a:pathLst>
                <a:path h="5080" w="4245483">
                  <a:moveTo>
                    <a:pt x="0" y="0"/>
                  </a:moveTo>
                  <a:lnTo>
                    <a:pt x="4245483" y="0"/>
                  </a:lnTo>
                  <a:lnTo>
                    <a:pt x="4245483" y="5080"/>
                  </a:lnTo>
                  <a:lnTo>
                    <a:pt x="0" y="508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8004" y="78172"/>
            <a:ext cx="4479798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Comparison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(Part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0979" y="1554699"/>
            <a:ext cx="565956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Interactivity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0979" y="1800168"/>
            <a:ext cx="592931" cy="2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Compression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40979" y="918629"/>
            <a:ext cx="325355" cy="1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Aspect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9872" y="918629"/>
            <a:ext cx="226219" cy="1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80506" y="918629"/>
            <a:ext cx="413442" cy="1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9872" y="1038835"/>
            <a:ext cx="533267" cy="60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Splatting Moderate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dering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depends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size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40979" y="1164098"/>
            <a:ext cx="592236" cy="1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3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Performance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942757" y="899579"/>
            <a:ext cx="648624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Cinematic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55662" y="899579"/>
            <a:ext cx="399202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GaSpCT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768547" y="899579"/>
            <a:ext cx="718509" cy="13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"/>
              </a:lnSpc>
            </a:pP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Multi-Layer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05112" y="1165298"/>
            <a:ext cx="286417" cy="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2"/>
              </a:lnSpc>
            </a:pPr>
            <a:r>
              <a:rPr lang="en-US" sz="797" spc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ren- speed, 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9872" y="1651149"/>
            <a:ext cx="771077" cy="23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86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ity,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static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31919" y="1651149"/>
            <a:ext cx="463001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interactiv-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9872" y="1877568"/>
            <a:ext cx="714318" cy="25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None,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78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fitting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02175" y="1877568"/>
            <a:ext cx="391344" cy="13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standard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942757" y="1165298"/>
            <a:ext cx="771106" cy="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60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mobile/VR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hard- ware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224916" y="1165298"/>
            <a:ext cx="220037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FPS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589486" y="1165298"/>
            <a:ext cx="111490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942757" y="1555899"/>
            <a:ext cx="762686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interactivity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42757" y="1801368"/>
            <a:ext cx="771106" cy="45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Mip-splatting,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vector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quantiza-</a:t>
            </a:r>
          </a:p>
          <a:p>
            <a:pPr algn="l">
              <a:lnSpc>
                <a:spcPts val="1494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855662" y="1165298"/>
            <a:ext cx="771125" cy="35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quality,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de- pends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sparse data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55662" y="1555899"/>
            <a:ext cx="762686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Low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interactivity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855662" y="1801368"/>
            <a:ext cx="51656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298612" y="1801368"/>
            <a:ext cx="319326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(sparse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3768547" y="1165298"/>
            <a:ext cx="771144" cy="23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Interactive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 rates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768547" y="1651149"/>
            <a:ext cx="771134" cy="60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High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interactiv- ity,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toggling Layer-based pruning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just">
              <a:lnSpc>
                <a:spcPts val="102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clustering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361812" y="2016814"/>
            <a:ext cx="165973" cy="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59997" y="2355847"/>
            <a:ext cx="3480578" cy="28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996" spc="1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Table: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Comparison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Base Gaussian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(Part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996" spc="1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986161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dology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099" y="331861"/>
            <a:ext cx="1188034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2740904"/>
            <a:ext cx="1244289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Splatting: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099" y="1020156"/>
            <a:ext cx="1431122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Codebase</a:t>
            </a: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Adaptation: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099" y="1880530"/>
            <a:ext cx="1963788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Structure-from-Motion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(SfM):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181" y="515274"/>
            <a:ext cx="3117542" cy="51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(hip-CT,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chosen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after evaluating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available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datasets. Converted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JPEG2000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TIFF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181" y="1203569"/>
            <a:ext cx="3382975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 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data. Resolved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dependency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conflicts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CUDA,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PyTorch,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 Visual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Studio.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181" y="2063944"/>
            <a:ext cx="3400511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 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slices. 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couldn’t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correlate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images;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switched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 non-medical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181" y="2924318"/>
            <a:ext cx="3231823" cy="51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generated,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blurry. Adjusted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orthographic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projection, leading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output.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1092746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 spc="2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434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 spc="2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Setup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099" y="2395214"/>
            <a:ext cx="515893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Testing: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1236240"/>
            <a:ext cx="549888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099" y="656749"/>
            <a:ext cx="1047293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Pipeline</a:t>
            </a: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099" y="1815722"/>
            <a:ext cx="1205417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Code</a:t>
            </a: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Adaptations: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181" y="865480"/>
            <a:ext cx="2801074" cy="34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Retrieved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codebase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 Cinematic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181" y="1311612"/>
            <a:ext cx="3340017" cy="47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(hip-CT),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converted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181" y="1891093"/>
            <a:ext cx="3376317" cy="47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Addressed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missing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dependencies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removed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deprecated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181" y="2470575"/>
            <a:ext cx="3340189" cy="47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Successfully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</a:p>
          <a:p>
            <a:pPr algn="l">
              <a:lnSpc>
                <a:spcPts val="545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validate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2619127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Selection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&amp;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099" y="1536859"/>
            <a:ext cx="930583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Preprocessing: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613229"/>
            <a:ext cx="1188034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Selection: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099" y="2460488"/>
            <a:ext cx="1270111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Compatibility: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181" y="821941"/>
            <a:ext cx="2954645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X-ray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faced compatibility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issues. Chose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hip-CT,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brain imagery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(partial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side).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181" y="1612230"/>
            <a:ext cx="2952102" cy="81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JPEG2000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(8-bit).</a:t>
            </a:r>
          </a:p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JPEG2000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intermediate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conversion.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181" y="2535869"/>
            <a:ext cx="2974362" cy="47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resolving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85921" y="1726530"/>
            <a:ext cx="298399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5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JP2)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3095454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Structure-from-Motion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(SfM)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099" y="331861"/>
            <a:ext cx="1248870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SfM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Requirements: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3085052"/>
            <a:ext cx="1548898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Alternative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Approaches: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099" y="2224678"/>
            <a:ext cx="2068249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SfM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Failure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hip-CT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099" y="1192235"/>
            <a:ext cx="2233984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Challenges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181" y="515274"/>
            <a:ext cx="3354257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typically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(edges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 textures)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calculation. Essential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 clouds,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181" y="1375648"/>
            <a:ext cx="3349581" cy="85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 between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adjacent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shared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edges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 textures). Difficulty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aligning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correlating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 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uniform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nature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181" y="2408101"/>
            <a:ext cx="3342161" cy="68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Attempted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1800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hip-CT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 resulted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correlated. 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absence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detectable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prevents effective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reconstruction.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181" y="3268475"/>
            <a:ext cx="3173730" cy="16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non-medical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e.g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.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ta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nk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2305536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Alternative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099" y="1330366"/>
            <a:ext cx="2159270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Switch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Non-Medical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406737"/>
            <a:ext cx="2233984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Challenges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Medical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099" y="2254006"/>
            <a:ext cx="2466794" cy="17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7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SfM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Success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M60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Tank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181" y="615448"/>
            <a:ext cx="3346075" cy="68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(e.g.,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hip-CT)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lacked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 required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Structure-from-Motion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(SfM). The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uniformity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textures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across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 hindered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alignment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extraction.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181" y="1405747"/>
            <a:ext cx="3400539" cy="81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alternative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</a:p>
          <a:p>
            <a:pPr algn="l">
              <a:lnSpc>
                <a:spcPts val="545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rich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available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data.</a:t>
            </a:r>
          </a:p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provided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sufficient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successful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processing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COLMAP.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181" y="2329377"/>
            <a:ext cx="3400425" cy="99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process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successfully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both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intrinsics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solving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calibration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problem.</a:t>
            </a:r>
          </a:p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allowed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accurate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generation,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providing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concept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</a:p>
          <a:p>
            <a:pPr algn="l">
              <a:lnSpc>
                <a:spcPts val="2164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40001" y="657739"/>
            <a:ext cx="1943957" cy="1025138"/>
          </a:xfrm>
          <a:custGeom>
            <a:avLst/>
            <a:gdLst/>
            <a:ahLst/>
            <a:cxnLst/>
            <a:rect r="r" b="b" t="t" l="l"/>
            <a:pathLst>
              <a:path h="1025138" w="1943957">
                <a:moveTo>
                  <a:pt x="0" y="0"/>
                </a:moveTo>
                <a:lnTo>
                  <a:pt x="1943958" y="0"/>
                </a:lnTo>
                <a:lnTo>
                  <a:pt x="1943958" y="1025138"/>
                </a:lnTo>
                <a:lnTo>
                  <a:pt x="0" y="1025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8004" y="78172"/>
            <a:ext cx="2438991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0001" y="1844211"/>
            <a:ext cx="1970208" cy="51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figure: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 generated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 dataset.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07251" y="725548"/>
            <a:ext cx="579015" cy="16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COLMAP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01080" y="897617"/>
            <a:ext cx="1669485" cy="252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successfully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solved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 parameters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(intrinsics extrinsics)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images.</a:t>
            </a:r>
          </a:p>
          <a:p>
            <a:pPr algn="l">
              <a:lnSpc>
                <a:spcPts val="1952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Initial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Point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Cloud: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22.33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minutes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resulted</a:t>
            </a:r>
          </a:p>
          <a:p>
            <a:pPr algn="l">
              <a:lnSpc>
                <a:spcPts val="1952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cloud.</a:t>
            </a:r>
          </a:p>
          <a:p>
            <a:pPr algn="l">
              <a:lnSpc>
                <a:spcPts val="1354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Visualization: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Web-based</a:t>
            </a:r>
          </a:p>
          <a:p>
            <a:pPr algn="l">
              <a:lnSpc>
                <a:spcPts val="1354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tools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visualize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 Gaussian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splat,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showing blurry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results.</a:t>
            </a:r>
          </a:p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Adaptation: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Focus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shifted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</a:p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custom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ins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cs.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23998" y="494643"/>
            <a:ext cx="700478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Key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01080" y="704679"/>
            <a:ext cx="861470" cy="18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3"/>
              </a:lnSpc>
            </a:pPr>
            <a:r>
              <a:rPr lang="en-US" sz="10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SfM</a:t>
            </a:r>
            <a:r>
              <a:rPr lang="en-US" sz="10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Process: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6494" y="363560"/>
            <a:ext cx="4332637" cy="3155947"/>
            <a:chOff x="0" y="0"/>
            <a:chExt cx="4332643" cy="3155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769997" y="3005201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93035" y="3003677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870835" y="3003677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024632" y="2994787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963926" y="3003677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23844" y="3006217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234944" y="3003677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11144" y="2993517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82162" y="2993517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05962" y="3003677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582162" y="3031617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53053" y="2993517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151884" y="3025140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125214" y="2998851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099" y="17653"/>
                  </a:moveTo>
                  <a:cubicBezTo>
                    <a:pt x="30099" y="10668"/>
                    <a:pt x="24384" y="4953"/>
                    <a:pt x="17399" y="4953"/>
                  </a:cubicBezTo>
                  <a:lnTo>
                    <a:pt x="17399" y="2413"/>
                  </a:lnTo>
                  <a:lnTo>
                    <a:pt x="17399" y="4953"/>
                  </a:lnTo>
                  <a:cubicBezTo>
                    <a:pt x="10414" y="4953"/>
                    <a:pt x="4699" y="10668"/>
                    <a:pt x="4699" y="17653"/>
                  </a:cubicBezTo>
                  <a:lnTo>
                    <a:pt x="2286" y="17653"/>
                  </a:lnTo>
                  <a:lnTo>
                    <a:pt x="4826" y="17653"/>
                  </a:lnTo>
                  <a:cubicBezTo>
                    <a:pt x="4826" y="24638"/>
                    <a:pt x="10541" y="30353"/>
                    <a:pt x="17526" y="30353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29709" y="2994787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2" y="50800"/>
                  </a:moveTo>
                  <a:cubicBezTo>
                    <a:pt x="55881" y="50800"/>
                    <a:pt x="66422" y="40513"/>
                    <a:pt x="66422" y="27940"/>
                  </a:cubicBezTo>
                  <a:lnTo>
                    <a:pt x="68962" y="27940"/>
                  </a:lnTo>
                  <a:lnTo>
                    <a:pt x="66422" y="27940"/>
                  </a:lnTo>
                  <a:cubicBezTo>
                    <a:pt x="66422" y="15367"/>
                    <a:pt x="56135" y="5080"/>
                    <a:pt x="43562" y="5080"/>
                  </a:cubicBezTo>
                  <a:lnTo>
                    <a:pt x="43562" y="2540"/>
                  </a:lnTo>
                  <a:lnTo>
                    <a:pt x="43562" y="5080"/>
                  </a:lnTo>
                  <a:cubicBezTo>
                    <a:pt x="30989" y="5080"/>
                    <a:pt x="20702" y="15367"/>
                    <a:pt x="20702" y="27940"/>
                  </a:cubicBezTo>
                  <a:cubicBezTo>
                    <a:pt x="20702" y="29337"/>
                    <a:pt x="19559" y="30480"/>
                    <a:pt x="18162" y="30480"/>
                  </a:cubicBezTo>
                  <a:cubicBezTo>
                    <a:pt x="16765" y="30480"/>
                    <a:pt x="15622" y="29337"/>
                    <a:pt x="15622" y="27940"/>
                  </a:cubicBezTo>
                  <a:cubicBezTo>
                    <a:pt x="15622" y="12573"/>
                    <a:pt x="28195" y="0"/>
                    <a:pt x="43562" y="0"/>
                  </a:cubicBezTo>
                  <a:cubicBezTo>
                    <a:pt x="58929" y="0"/>
                    <a:pt x="71502" y="12573"/>
                    <a:pt x="71502" y="27940"/>
                  </a:cubicBezTo>
                  <a:cubicBezTo>
                    <a:pt x="71502" y="43307"/>
                    <a:pt x="58675" y="55880"/>
                    <a:pt x="43562" y="55880"/>
                  </a:cubicBezTo>
                  <a:cubicBezTo>
                    <a:pt x="42165" y="55880"/>
                    <a:pt x="41022" y="54737"/>
                    <a:pt x="41022" y="53340"/>
                  </a:cubicBezTo>
                  <a:cubicBezTo>
                    <a:pt x="41022" y="51943"/>
                    <a:pt x="42165" y="50800"/>
                    <a:pt x="43562" y="50800"/>
                  </a:cubicBezTo>
                  <a:close/>
                  <a:moveTo>
                    <a:pt x="35053" y="22225"/>
                  </a:moveTo>
                  <a:lnTo>
                    <a:pt x="19813" y="34925"/>
                  </a:lnTo>
                  <a:lnTo>
                    <a:pt x="18162" y="36322"/>
                  </a:lnTo>
                  <a:lnTo>
                    <a:pt x="16511" y="34925"/>
                  </a:lnTo>
                  <a:lnTo>
                    <a:pt x="1271" y="22225"/>
                  </a:lnTo>
                  <a:cubicBezTo>
                    <a:pt x="255" y="21336"/>
                    <a:pt x="0" y="19685"/>
                    <a:pt x="890" y="18669"/>
                  </a:cubicBezTo>
                  <a:cubicBezTo>
                    <a:pt x="1779" y="17653"/>
                    <a:pt x="3430" y="17399"/>
                    <a:pt x="4446" y="18288"/>
                  </a:cubicBezTo>
                  <a:lnTo>
                    <a:pt x="19686" y="30988"/>
                  </a:lnTo>
                  <a:lnTo>
                    <a:pt x="18035" y="32893"/>
                  </a:lnTo>
                  <a:lnTo>
                    <a:pt x="16384" y="30988"/>
                  </a:lnTo>
                  <a:lnTo>
                    <a:pt x="31624" y="18288"/>
                  </a:lnTo>
                  <a:cubicBezTo>
                    <a:pt x="32640" y="17399"/>
                    <a:pt x="34291" y="17526"/>
                    <a:pt x="35180" y="18669"/>
                  </a:cubicBezTo>
                  <a:cubicBezTo>
                    <a:pt x="36069" y="19812"/>
                    <a:pt x="35942" y="21336"/>
                    <a:pt x="34799" y="22225"/>
                  </a:cubicBezTo>
                  <a:close/>
                  <a:moveTo>
                    <a:pt x="195962" y="55880"/>
                  </a:moveTo>
                  <a:cubicBezTo>
                    <a:pt x="180595" y="55880"/>
                    <a:pt x="168022" y="43307"/>
                    <a:pt x="168022" y="27940"/>
                  </a:cubicBezTo>
                  <a:lnTo>
                    <a:pt x="170562" y="27940"/>
                  </a:lnTo>
                  <a:lnTo>
                    <a:pt x="168022" y="27940"/>
                  </a:lnTo>
                  <a:cubicBezTo>
                    <a:pt x="168022" y="12573"/>
                    <a:pt x="180595" y="0"/>
                    <a:pt x="195962" y="0"/>
                  </a:cubicBezTo>
                  <a:lnTo>
                    <a:pt x="195962" y="2540"/>
                  </a:lnTo>
                  <a:lnTo>
                    <a:pt x="195962" y="0"/>
                  </a:lnTo>
                  <a:cubicBezTo>
                    <a:pt x="211329" y="0"/>
                    <a:pt x="223902" y="12573"/>
                    <a:pt x="223902" y="27940"/>
                  </a:cubicBezTo>
                  <a:cubicBezTo>
                    <a:pt x="223902" y="29337"/>
                    <a:pt x="222759" y="30480"/>
                    <a:pt x="221362" y="30480"/>
                  </a:cubicBezTo>
                  <a:cubicBezTo>
                    <a:pt x="219965" y="30480"/>
                    <a:pt x="218822" y="29337"/>
                    <a:pt x="218822" y="27940"/>
                  </a:cubicBezTo>
                  <a:cubicBezTo>
                    <a:pt x="218822" y="15367"/>
                    <a:pt x="208535" y="5080"/>
                    <a:pt x="195962" y="5080"/>
                  </a:cubicBezTo>
                  <a:cubicBezTo>
                    <a:pt x="183389" y="5080"/>
                    <a:pt x="173102" y="15367"/>
                    <a:pt x="173102" y="27940"/>
                  </a:cubicBezTo>
                  <a:cubicBezTo>
                    <a:pt x="173102" y="40513"/>
                    <a:pt x="183389" y="50800"/>
                    <a:pt x="195962" y="50800"/>
                  </a:cubicBezTo>
                  <a:cubicBezTo>
                    <a:pt x="197359" y="50800"/>
                    <a:pt x="198502" y="51943"/>
                    <a:pt x="198502" y="53340"/>
                  </a:cubicBezTo>
                  <a:cubicBezTo>
                    <a:pt x="198502" y="54737"/>
                    <a:pt x="197359" y="55880"/>
                    <a:pt x="195962" y="55880"/>
                  </a:cubicBezTo>
                  <a:close/>
                  <a:moveTo>
                    <a:pt x="238253" y="22225"/>
                  </a:moveTo>
                  <a:lnTo>
                    <a:pt x="223013" y="34925"/>
                  </a:lnTo>
                  <a:lnTo>
                    <a:pt x="221362" y="36322"/>
                  </a:lnTo>
                  <a:lnTo>
                    <a:pt x="219711" y="34925"/>
                  </a:lnTo>
                  <a:lnTo>
                    <a:pt x="204471" y="22225"/>
                  </a:lnTo>
                  <a:cubicBezTo>
                    <a:pt x="203455" y="21336"/>
                    <a:pt x="203200" y="19685"/>
                    <a:pt x="204090" y="18669"/>
                  </a:cubicBezTo>
                  <a:cubicBezTo>
                    <a:pt x="204979" y="17653"/>
                    <a:pt x="206630" y="17399"/>
                    <a:pt x="207646" y="18288"/>
                  </a:cubicBezTo>
                  <a:lnTo>
                    <a:pt x="222886" y="30988"/>
                  </a:lnTo>
                  <a:lnTo>
                    <a:pt x="221235" y="32893"/>
                  </a:lnTo>
                  <a:lnTo>
                    <a:pt x="219584" y="30988"/>
                  </a:lnTo>
                  <a:lnTo>
                    <a:pt x="234824" y="18288"/>
                  </a:lnTo>
                  <a:cubicBezTo>
                    <a:pt x="235840" y="17399"/>
                    <a:pt x="237491" y="17526"/>
                    <a:pt x="238380" y="18669"/>
                  </a:cubicBezTo>
                  <a:cubicBezTo>
                    <a:pt x="239269" y="19812"/>
                    <a:pt x="239142" y="21336"/>
                    <a:pt x="237999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887978" cy="1150239"/>
            </a:xfrm>
            <a:custGeom>
              <a:avLst/>
              <a:gdLst/>
              <a:ahLst/>
              <a:cxnLst/>
              <a:rect r="r" b="b" t="t" l="l"/>
              <a:pathLst>
                <a:path h="1150239" w="3887978">
                  <a:moveTo>
                    <a:pt x="0" y="1096137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3834003" y="0"/>
                  </a:lnTo>
                  <a:cubicBezTo>
                    <a:pt x="3863848" y="0"/>
                    <a:pt x="3887978" y="24130"/>
                    <a:pt x="3887978" y="53975"/>
                  </a:cubicBezTo>
                  <a:lnTo>
                    <a:pt x="3887978" y="1096137"/>
                  </a:lnTo>
                  <a:cubicBezTo>
                    <a:pt x="3887978" y="1125982"/>
                    <a:pt x="3863848" y="1150112"/>
                    <a:pt x="3834003" y="1150112"/>
                  </a:cubicBezTo>
                  <a:lnTo>
                    <a:pt x="53975" y="1150112"/>
                  </a:lnTo>
                  <a:cubicBezTo>
                    <a:pt x="24130" y="1150239"/>
                    <a:pt x="0" y="1125982"/>
                    <a:pt x="0" y="1096137"/>
                  </a:cubicBezTo>
                  <a:close/>
                </a:path>
              </a:pathLst>
            </a:custGeom>
            <a:solidFill>
              <a:srgbClr val="0000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1534" y="294640"/>
              <a:ext cx="3852037" cy="900938"/>
            </a:xfrm>
            <a:custGeom>
              <a:avLst/>
              <a:gdLst/>
              <a:ahLst/>
              <a:cxnLst/>
              <a:rect r="r" b="b" t="t" l="l"/>
              <a:pathLst>
                <a:path h="900938" w="3852037">
                  <a:moveTo>
                    <a:pt x="0" y="864997"/>
                  </a:moveTo>
                  <a:lnTo>
                    <a:pt x="0" y="0"/>
                  </a:lnTo>
                  <a:lnTo>
                    <a:pt x="3852037" y="0"/>
                  </a:lnTo>
                  <a:lnTo>
                    <a:pt x="3852037" y="864997"/>
                  </a:lnTo>
                  <a:cubicBezTo>
                    <a:pt x="3852037" y="884936"/>
                    <a:pt x="3835908" y="900938"/>
                    <a:pt x="3816096" y="900938"/>
                  </a:cubicBezTo>
                  <a:lnTo>
                    <a:pt x="35941" y="900938"/>
                  </a:lnTo>
                  <a:cubicBezTo>
                    <a:pt x="16002" y="900938"/>
                    <a:pt x="0" y="884809"/>
                    <a:pt x="0" y="864997"/>
                  </a:cubicBezTo>
                  <a:close/>
                </a:path>
              </a:pathLst>
            </a:custGeom>
            <a:solidFill>
              <a:srgbClr val="E6E6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1299718"/>
              <a:ext cx="3888105" cy="1792732"/>
            </a:xfrm>
            <a:custGeom>
              <a:avLst/>
              <a:gdLst/>
              <a:ahLst/>
              <a:cxnLst/>
              <a:rect r="r" b="b" t="t" l="l"/>
              <a:pathLst>
                <a:path h="1792732" w="3888105">
                  <a:moveTo>
                    <a:pt x="53975" y="0"/>
                  </a:moveTo>
                  <a:cubicBezTo>
                    <a:pt x="24130" y="0"/>
                    <a:pt x="0" y="24130"/>
                    <a:pt x="0" y="53975"/>
                  </a:cubicBezTo>
                  <a:lnTo>
                    <a:pt x="0" y="1792732"/>
                  </a:lnTo>
                  <a:lnTo>
                    <a:pt x="3888105" y="1792732"/>
                  </a:lnTo>
                  <a:lnTo>
                    <a:pt x="3888105" y="53975"/>
                  </a:lnTo>
                  <a:cubicBezTo>
                    <a:pt x="3888105" y="24130"/>
                    <a:pt x="3863975" y="0"/>
                    <a:pt x="3834130" y="0"/>
                  </a:cubicBezTo>
                  <a:close/>
                </a:path>
              </a:pathLst>
            </a:custGeom>
            <a:solidFill>
              <a:srgbClr val="D7C94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1534" y="1530858"/>
              <a:ext cx="3852037" cy="1561592"/>
            </a:xfrm>
            <a:custGeom>
              <a:avLst/>
              <a:gdLst/>
              <a:ahLst/>
              <a:cxnLst/>
              <a:rect r="r" b="b" t="t" l="l"/>
              <a:pathLst>
                <a:path h="1561592" w="3852037">
                  <a:moveTo>
                    <a:pt x="0" y="0"/>
                  </a:moveTo>
                  <a:lnTo>
                    <a:pt x="0" y="1561592"/>
                  </a:lnTo>
                  <a:lnTo>
                    <a:pt x="3852037" y="1561592"/>
                  </a:lnTo>
                  <a:lnTo>
                    <a:pt x="3852037" y="0"/>
                  </a:lnTo>
                  <a:close/>
                </a:path>
              </a:pathLst>
            </a:custGeom>
            <a:solidFill>
              <a:srgbClr val="FFFD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8004" y="78172"/>
            <a:ext cx="1982010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8003" y="357426"/>
            <a:ext cx="922458" cy="26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Struggles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5085" y="650272"/>
            <a:ext cx="3279162" cy="81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Selection**: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Struggled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suitable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”sliced”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our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needs.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**Raw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Ultimately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manually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prepared.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8003" y="1555547"/>
            <a:ext cx="163340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Selection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Evaluation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5085" y="1935947"/>
            <a:ext cx="2135915" cy="20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Narrowed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down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three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2177" y="2171414"/>
            <a:ext cx="2996527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*GaSpCT*: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projection synthesis. *Multi-Layer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visualization. *Gaussian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Cinematic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Anatomy*: Chose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despite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some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gaps.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70862" y="2515572"/>
            <a:ext cx="590760" cy="16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Immersive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5085" y="3184674"/>
            <a:ext cx="3027140" cy="22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Each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thoroughly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analyzed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tea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3" action="ppaction://hlinksldjump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4" action="ppaction://hlinksldjump"/>
              </a:rPr>
              <a:t>em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5" action="ppaction://hlinksldjump"/>
              </a:rPr>
              <a:t>be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6" action="ppaction://hlinksldjump"/>
              </a:rPr>
              <a:t>rs.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6494" y="363550"/>
            <a:ext cx="4332637" cy="3155947"/>
            <a:chOff x="0" y="0"/>
            <a:chExt cx="4332643" cy="3155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769997" y="3005201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93035" y="3003677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870835" y="3003677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024632" y="2994787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963926" y="3003677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23844" y="3006217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234944" y="3003677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11144" y="2993517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582162" y="2993517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505962" y="3003677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582162" y="3031617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53053" y="2993517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151884" y="3025140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125214" y="2998851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099" y="17653"/>
                  </a:moveTo>
                  <a:cubicBezTo>
                    <a:pt x="30099" y="10668"/>
                    <a:pt x="24384" y="4953"/>
                    <a:pt x="17399" y="4953"/>
                  </a:cubicBezTo>
                  <a:lnTo>
                    <a:pt x="17399" y="2413"/>
                  </a:lnTo>
                  <a:lnTo>
                    <a:pt x="17399" y="4953"/>
                  </a:lnTo>
                  <a:cubicBezTo>
                    <a:pt x="10414" y="4953"/>
                    <a:pt x="4699" y="10668"/>
                    <a:pt x="4699" y="17653"/>
                  </a:cubicBezTo>
                  <a:lnTo>
                    <a:pt x="2286" y="17653"/>
                  </a:lnTo>
                  <a:lnTo>
                    <a:pt x="4826" y="17653"/>
                  </a:lnTo>
                  <a:cubicBezTo>
                    <a:pt x="4826" y="24638"/>
                    <a:pt x="10541" y="30353"/>
                    <a:pt x="17526" y="30353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29709" y="2994787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2" y="50800"/>
                  </a:moveTo>
                  <a:cubicBezTo>
                    <a:pt x="55881" y="50800"/>
                    <a:pt x="66422" y="40513"/>
                    <a:pt x="66422" y="27940"/>
                  </a:cubicBezTo>
                  <a:lnTo>
                    <a:pt x="68962" y="27940"/>
                  </a:lnTo>
                  <a:lnTo>
                    <a:pt x="66422" y="27940"/>
                  </a:lnTo>
                  <a:cubicBezTo>
                    <a:pt x="66422" y="15367"/>
                    <a:pt x="56135" y="5080"/>
                    <a:pt x="43562" y="5080"/>
                  </a:cubicBezTo>
                  <a:lnTo>
                    <a:pt x="43562" y="2540"/>
                  </a:lnTo>
                  <a:lnTo>
                    <a:pt x="43562" y="5080"/>
                  </a:lnTo>
                  <a:cubicBezTo>
                    <a:pt x="30989" y="5080"/>
                    <a:pt x="20702" y="15367"/>
                    <a:pt x="20702" y="27940"/>
                  </a:cubicBezTo>
                  <a:cubicBezTo>
                    <a:pt x="20702" y="29337"/>
                    <a:pt x="19559" y="30480"/>
                    <a:pt x="18162" y="30480"/>
                  </a:cubicBezTo>
                  <a:cubicBezTo>
                    <a:pt x="16765" y="30480"/>
                    <a:pt x="15622" y="29337"/>
                    <a:pt x="15622" y="27940"/>
                  </a:cubicBezTo>
                  <a:cubicBezTo>
                    <a:pt x="15622" y="12573"/>
                    <a:pt x="28195" y="0"/>
                    <a:pt x="43562" y="0"/>
                  </a:cubicBezTo>
                  <a:cubicBezTo>
                    <a:pt x="58929" y="0"/>
                    <a:pt x="71502" y="12573"/>
                    <a:pt x="71502" y="27940"/>
                  </a:cubicBezTo>
                  <a:cubicBezTo>
                    <a:pt x="71502" y="43307"/>
                    <a:pt x="58675" y="55880"/>
                    <a:pt x="43562" y="55880"/>
                  </a:cubicBezTo>
                  <a:cubicBezTo>
                    <a:pt x="42165" y="55880"/>
                    <a:pt x="41022" y="54737"/>
                    <a:pt x="41022" y="53340"/>
                  </a:cubicBezTo>
                  <a:cubicBezTo>
                    <a:pt x="41022" y="51943"/>
                    <a:pt x="42165" y="50800"/>
                    <a:pt x="43562" y="50800"/>
                  </a:cubicBezTo>
                  <a:close/>
                  <a:moveTo>
                    <a:pt x="35053" y="22225"/>
                  </a:moveTo>
                  <a:lnTo>
                    <a:pt x="19813" y="34925"/>
                  </a:lnTo>
                  <a:lnTo>
                    <a:pt x="18162" y="36322"/>
                  </a:lnTo>
                  <a:lnTo>
                    <a:pt x="16511" y="34925"/>
                  </a:lnTo>
                  <a:lnTo>
                    <a:pt x="1271" y="22225"/>
                  </a:lnTo>
                  <a:cubicBezTo>
                    <a:pt x="255" y="21336"/>
                    <a:pt x="0" y="19685"/>
                    <a:pt x="890" y="18669"/>
                  </a:cubicBezTo>
                  <a:cubicBezTo>
                    <a:pt x="1779" y="17653"/>
                    <a:pt x="3430" y="17399"/>
                    <a:pt x="4446" y="18288"/>
                  </a:cubicBezTo>
                  <a:lnTo>
                    <a:pt x="19686" y="30988"/>
                  </a:lnTo>
                  <a:lnTo>
                    <a:pt x="18035" y="32893"/>
                  </a:lnTo>
                  <a:lnTo>
                    <a:pt x="16384" y="30988"/>
                  </a:lnTo>
                  <a:lnTo>
                    <a:pt x="31624" y="18288"/>
                  </a:lnTo>
                  <a:cubicBezTo>
                    <a:pt x="32640" y="17399"/>
                    <a:pt x="34291" y="17526"/>
                    <a:pt x="35180" y="18669"/>
                  </a:cubicBezTo>
                  <a:cubicBezTo>
                    <a:pt x="36069" y="19812"/>
                    <a:pt x="35942" y="21336"/>
                    <a:pt x="34799" y="22225"/>
                  </a:cubicBezTo>
                  <a:close/>
                  <a:moveTo>
                    <a:pt x="195962" y="55880"/>
                  </a:moveTo>
                  <a:cubicBezTo>
                    <a:pt x="180595" y="55880"/>
                    <a:pt x="168022" y="43307"/>
                    <a:pt x="168022" y="27940"/>
                  </a:cubicBezTo>
                  <a:lnTo>
                    <a:pt x="170562" y="27940"/>
                  </a:lnTo>
                  <a:lnTo>
                    <a:pt x="168022" y="27940"/>
                  </a:lnTo>
                  <a:cubicBezTo>
                    <a:pt x="168022" y="12573"/>
                    <a:pt x="180595" y="0"/>
                    <a:pt x="195962" y="0"/>
                  </a:cubicBezTo>
                  <a:lnTo>
                    <a:pt x="195962" y="2540"/>
                  </a:lnTo>
                  <a:lnTo>
                    <a:pt x="195962" y="0"/>
                  </a:lnTo>
                  <a:cubicBezTo>
                    <a:pt x="211329" y="0"/>
                    <a:pt x="223902" y="12573"/>
                    <a:pt x="223902" y="27940"/>
                  </a:cubicBezTo>
                  <a:cubicBezTo>
                    <a:pt x="223902" y="29337"/>
                    <a:pt x="222759" y="30480"/>
                    <a:pt x="221362" y="30480"/>
                  </a:cubicBezTo>
                  <a:cubicBezTo>
                    <a:pt x="219965" y="30480"/>
                    <a:pt x="218822" y="29337"/>
                    <a:pt x="218822" y="27940"/>
                  </a:cubicBezTo>
                  <a:cubicBezTo>
                    <a:pt x="218822" y="15367"/>
                    <a:pt x="208535" y="5080"/>
                    <a:pt x="195962" y="5080"/>
                  </a:cubicBezTo>
                  <a:cubicBezTo>
                    <a:pt x="183389" y="5080"/>
                    <a:pt x="173102" y="15367"/>
                    <a:pt x="173102" y="27940"/>
                  </a:cubicBezTo>
                  <a:cubicBezTo>
                    <a:pt x="173102" y="40513"/>
                    <a:pt x="183389" y="50800"/>
                    <a:pt x="195962" y="50800"/>
                  </a:cubicBezTo>
                  <a:cubicBezTo>
                    <a:pt x="197359" y="50800"/>
                    <a:pt x="198502" y="51943"/>
                    <a:pt x="198502" y="53340"/>
                  </a:cubicBezTo>
                  <a:cubicBezTo>
                    <a:pt x="198502" y="54737"/>
                    <a:pt x="197359" y="55880"/>
                    <a:pt x="195962" y="55880"/>
                  </a:cubicBezTo>
                  <a:close/>
                  <a:moveTo>
                    <a:pt x="238253" y="22225"/>
                  </a:moveTo>
                  <a:lnTo>
                    <a:pt x="223013" y="34925"/>
                  </a:lnTo>
                  <a:lnTo>
                    <a:pt x="221362" y="36322"/>
                  </a:lnTo>
                  <a:lnTo>
                    <a:pt x="219711" y="34925"/>
                  </a:lnTo>
                  <a:lnTo>
                    <a:pt x="204471" y="22225"/>
                  </a:lnTo>
                  <a:cubicBezTo>
                    <a:pt x="203455" y="21336"/>
                    <a:pt x="203200" y="19685"/>
                    <a:pt x="204090" y="18669"/>
                  </a:cubicBezTo>
                  <a:cubicBezTo>
                    <a:pt x="204979" y="17653"/>
                    <a:pt x="206630" y="17399"/>
                    <a:pt x="207646" y="18288"/>
                  </a:cubicBezTo>
                  <a:lnTo>
                    <a:pt x="222886" y="30988"/>
                  </a:lnTo>
                  <a:lnTo>
                    <a:pt x="221235" y="32893"/>
                  </a:lnTo>
                  <a:lnTo>
                    <a:pt x="219584" y="30988"/>
                  </a:lnTo>
                  <a:lnTo>
                    <a:pt x="234824" y="18288"/>
                  </a:lnTo>
                  <a:cubicBezTo>
                    <a:pt x="235840" y="17399"/>
                    <a:pt x="237491" y="17526"/>
                    <a:pt x="238380" y="18669"/>
                  </a:cubicBezTo>
                  <a:cubicBezTo>
                    <a:pt x="239269" y="19812"/>
                    <a:pt x="239142" y="21336"/>
                    <a:pt x="237999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887978" cy="1532255"/>
            </a:xfrm>
            <a:custGeom>
              <a:avLst/>
              <a:gdLst/>
              <a:ahLst/>
              <a:cxnLst/>
              <a:rect r="r" b="b" t="t" l="l"/>
              <a:pathLst>
                <a:path h="1532255" w="3887978">
                  <a:moveTo>
                    <a:pt x="0" y="1478280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3834003" y="0"/>
                  </a:lnTo>
                  <a:cubicBezTo>
                    <a:pt x="3863848" y="0"/>
                    <a:pt x="3887978" y="24130"/>
                    <a:pt x="3887978" y="53975"/>
                  </a:cubicBezTo>
                  <a:lnTo>
                    <a:pt x="3887978" y="1478280"/>
                  </a:lnTo>
                  <a:cubicBezTo>
                    <a:pt x="3887978" y="1508125"/>
                    <a:pt x="3863848" y="1532255"/>
                    <a:pt x="3834003" y="1532255"/>
                  </a:cubicBezTo>
                  <a:lnTo>
                    <a:pt x="53975" y="1532255"/>
                  </a:lnTo>
                  <a:cubicBezTo>
                    <a:pt x="24130" y="1532255"/>
                    <a:pt x="0" y="1508125"/>
                    <a:pt x="0" y="1478280"/>
                  </a:cubicBezTo>
                  <a:close/>
                </a:path>
              </a:pathLst>
            </a:custGeom>
            <a:solidFill>
              <a:srgbClr val="00CC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1534" y="294640"/>
              <a:ext cx="3852037" cy="1283081"/>
            </a:xfrm>
            <a:custGeom>
              <a:avLst/>
              <a:gdLst/>
              <a:ahLst/>
              <a:cxnLst/>
              <a:rect r="r" b="b" t="t" l="l"/>
              <a:pathLst>
                <a:path h="1283081" w="3852037">
                  <a:moveTo>
                    <a:pt x="0" y="1247140"/>
                  </a:moveTo>
                  <a:lnTo>
                    <a:pt x="0" y="0"/>
                  </a:lnTo>
                  <a:lnTo>
                    <a:pt x="3852037" y="0"/>
                  </a:lnTo>
                  <a:lnTo>
                    <a:pt x="3852037" y="1247140"/>
                  </a:lnTo>
                  <a:cubicBezTo>
                    <a:pt x="3852037" y="1267079"/>
                    <a:pt x="3835908" y="1283081"/>
                    <a:pt x="3816096" y="1283081"/>
                  </a:cubicBezTo>
                  <a:lnTo>
                    <a:pt x="35941" y="1283081"/>
                  </a:lnTo>
                  <a:cubicBezTo>
                    <a:pt x="16002" y="1283081"/>
                    <a:pt x="0" y="1266952"/>
                    <a:pt x="0" y="1247140"/>
                  </a:cubicBezTo>
                  <a:close/>
                </a:path>
              </a:pathLst>
            </a:custGeom>
            <a:solidFill>
              <a:srgbClr val="E6FFE6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1681861"/>
              <a:ext cx="3888105" cy="1410589"/>
            </a:xfrm>
            <a:custGeom>
              <a:avLst/>
              <a:gdLst/>
              <a:ahLst/>
              <a:cxnLst/>
              <a:rect r="r" b="b" t="t" l="l"/>
              <a:pathLst>
                <a:path h="1410589" w="3888105">
                  <a:moveTo>
                    <a:pt x="53975" y="0"/>
                  </a:moveTo>
                  <a:cubicBezTo>
                    <a:pt x="24130" y="0"/>
                    <a:pt x="0" y="24130"/>
                    <a:pt x="0" y="53975"/>
                  </a:cubicBezTo>
                  <a:lnTo>
                    <a:pt x="0" y="1410589"/>
                  </a:lnTo>
                  <a:lnTo>
                    <a:pt x="3888105" y="1410589"/>
                  </a:lnTo>
                  <a:lnTo>
                    <a:pt x="3888105" y="53975"/>
                  </a:lnTo>
                  <a:cubicBezTo>
                    <a:pt x="3888105" y="24130"/>
                    <a:pt x="3863975" y="0"/>
                    <a:pt x="3834130" y="0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1534" y="1913001"/>
              <a:ext cx="3852037" cy="1179449"/>
            </a:xfrm>
            <a:custGeom>
              <a:avLst/>
              <a:gdLst/>
              <a:ahLst/>
              <a:cxnLst/>
              <a:rect r="r" b="b" t="t" l="l"/>
              <a:pathLst>
                <a:path h="1179449" w="3852037">
                  <a:moveTo>
                    <a:pt x="0" y="0"/>
                  </a:moveTo>
                  <a:lnTo>
                    <a:pt x="0" y="1179449"/>
                  </a:lnTo>
                  <a:lnTo>
                    <a:pt x="3852037" y="1179449"/>
                  </a:lnTo>
                  <a:lnTo>
                    <a:pt x="3852037" y="0"/>
                  </a:lnTo>
                  <a:close/>
                </a:path>
              </a:pathLst>
            </a:custGeom>
            <a:solidFill>
              <a:srgbClr val="FFE6E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8004" y="78172"/>
            <a:ext cx="2255006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8003" y="357426"/>
            <a:ext cx="1269063" cy="264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Setup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Trials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5085" y="650272"/>
            <a:ext cx="3279267" cy="120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**Codebase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Issues**: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Faced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dependency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environ-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issues;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manual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fixes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required.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Conversion**: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original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(hip-CT)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from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JPEG2000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Adjustment**: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Implemented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custom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fixes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background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code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errors.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8003" y="1937652"/>
            <a:ext cx="1216171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5085" y="2316223"/>
            <a:ext cx="3279248" cy="115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Struggled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l">
              <a:lnSpc>
                <a:spcPts val="82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between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slices.</a:t>
            </a:r>
          </a:p>
          <a:p>
            <a:pPr algn="l">
              <a:lnSpc>
                <a:spcPts val="2481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**Alternative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(M60,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successfully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**Initial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Cloud**: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</a:p>
          <a:p>
            <a:pPr algn="l">
              <a:lnSpc>
                <a:spcPts val="545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but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blurry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2" action="ppaction://hlinksldjump"/>
              </a:rPr>
              <a:t>ts.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76508" y="483994"/>
            <a:ext cx="2071021" cy="1613649"/>
            <a:chOff x="0" y="0"/>
            <a:chExt cx="2071027" cy="16136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943989" cy="1486662"/>
            </a:xfrm>
            <a:custGeom>
              <a:avLst/>
              <a:gdLst/>
              <a:ahLst/>
              <a:cxnLst/>
              <a:rect r="r" b="b" t="t" l="l"/>
              <a:pathLst>
                <a:path h="1486662" w="1943989">
                  <a:moveTo>
                    <a:pt x="0" y="1432687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1890014" y="0"/>
                  </a:lnTo>
                  <a:cubicBezTo>
                    <a:pt x="1919859" y="0"/>
                    <a:pt x="1943989" y="24130"/>
                    <a:pt x="1943989" y="53975"/>
                  </a:cubicBezTo>
                  <a:lnTo>
                    <a:pt x="1943989" y="1432687"/>
                  </a:lnTo>
                  <a:cubicBezTo>
                    <a:pt x="1943989" y="1462532"/>
                    <a:pt x="1919859" y="1486662"/>
                    <a:pt x="1890014" y="1486662"/>
                  </a:cubicBezTo>
                  <a:lnTo>
                    <a:pt x="53975" y="1486662"/>
                  </a:lnTo>
                  <a:cubicBezTo>
                    <a:pt x="24130" y="1486662"/>
                    <a:pt x="0" y="1462532"/>
                    <a:pt x="0" y="1432687"/>
                  </a:cubicBezTo>
                  <a:close/>
                </a:path>
              </a:pathLst>
            </a:custGeom>
            <a:solidFill>
              <a:srgbClr val="00CC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1534" y="294640"/>
              <a:ext cx="1908048" cy="1237488"/>
            </a:xfrm>
            <a:custGeom>
              <a:avLst/>
              <a:gdLst/>
              <a:ahLst/>
              <a:cxnLst/>
              <a:rect r="r" b="b" t="t" l="l"/>
              <a:pathLst>
                <a:path h="1237488" w="1908048">
                  <a:moveTo>
                    <a:pt x="0" y="1201547"/>
                  </a:moveTo>
                  <a:lnTo>
                    <a:pt x="0" y="0"/>
                  </a:lnTo>
                  <a:lnTo>
                    <a:pt x="1908048" y="0"/>
                  </a:lnTo>
                  <a:lnTo>
                    <a:pt x="1908048" y="1201547"/>
                  </a:lnTo>
                  <a:cubicBezTo>
                    <a:pt x="1908048" y="1221486"/>
                    <a:pt x="1891919" y="1237488"/>
                    <a:pt x="1872107" y="1237488"/>
                  </a:cubicBezTo>
                  <a:lnTo>
                    <a:pt x="35941" y="1237488"/>
                  </a:lnTo>
                  <a:cubicBezTo>
                    <a:pt x="16002" y="1237488"/>
                    <a:pt x="0" y="1221359"/>
                    <a:pt x="0" y="1201547"/>
                  </a:cubicBezTo>
                  <a:close/>
                </a:path>
              </a:pathLst>
            </a:custGeom>
            <a:solidFill>
              <a:srgbClr val="E6FFE6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96494" y="483994"/>
            <a:ext cx="4332646" cy="3035503"/>
            <a:chOff x="0" y="0"/>
            <a:chExt cx="4332643" cy="3035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769997" y="2884678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93035" y="2883281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870835" y="2883281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24632" y="2874391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963926" y="2883281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23844" y="2885821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234944" y="2883281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11144" y="2873121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82162" y="2873121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05962" y="2883281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582162" y="2911221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53053" y="2873121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151884" y="2904744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125214" y="2878455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099" y="17653"/>
                  </a:moveTo>
                  <a:cubicBezTo>
                    <a:pt x="30099" y="10668"/>
                    <a:pt x="24384" y="4953"/>
                    <a:pt x="17399" y="4953"/>
                  </a:cubicBezTo>
                  <a:lnTo>
                    <a:pt x="17399" y="2413"/>
                  </a:lnTo>
                  <a:lnTo>
                    <a:pt x="17399" y="4953"/>
                  </a:lnTo>
                  <a:cubicBezTo>
                    <a:pt x="10414" y="4953"/>
                    <a:pt x="4699" y="10668"/>
                    <a:pt x="4699" y="17653"/>
                  </a:cubicBezTo>
                  <a:lnTo>
                    <a:pt x="2286" y="17653"/>
                  </a:lnTo>
                  <a:lnTo>
                    <a:pt x="4826" y="17653"/>
                  </a:lnTo>
                  <a:cubicBezTo>
                    <a:pt x="4826" y="24638"/>
                    <a:pt x="10541" y="30353"/>
                    <a:pt x="17526" y="30353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029709" y="2874391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2" y="50800"/>
                  </a:moveTo>
                  <a:cubicBezTo>
                    <a:pt x="55881" y="50800"/>
                    <a:pt x="66422" y="40513"/>
                    <a:pt x="66422" y="27940"/>
                  </a:cubicBezTo>
                  <a:lnTo>
                    <a:pt x="68962" y="27940"/>
                  </a:lnTo>
                  <a:lnTo>
                    <a:pt x="66422" y="27940"/>
                  </a:lnTo>
                  <a:cubicBezTo>
                    <a:pt x="66422" y="15367"/>
                    <a:pt x="56135" y="5080"/>
                    <a:pt x="43562" y="5080"/>
                  </a:cubicBezTo>
                  <a:lnTo>
                    <a:pt x="43562" y="2540"/>
                  </a:lnTo>
                  <a:lnTo>
                    <a:pt x="43562" y="5080"/>
                  </a:lnTo>
                  <a:cubicBezTo>
                    <a:pt x="30989" y="5080"/>
                    <a:pt x="20702" y="15367"/>
                    <a:pt x="20702" y="27940"/>
                  </a:cubicBezTo>
                  <a:cubicBezTo>
                    <a:pt x="20702" y="29337"/>
                    <a:pt x="19559" y="30480"/>
                    <a:pt x="18162" y="30480"/>
                  </a:cubicBezTo>
                  <a:cubicBezTo>
                    <a:pt x="16765" y="30480"/>
                    <a:pt x="15622" y="29337"/>
                    <a:pt x="15622" y="27940"/>
                  </a:cubicBezTo>
                  <a:cubicBezTo>
                    <a:pt x="15622" y="12573"/>
                    <a:pt x="28195" y="0"/>
                    <a:pt x="43562" y="0"/>
                  </a:cubicBezTo>
                  <a:cubicBezTo>
                    <a:pt x="58929" y="0"/>
                    <a:pt x="71502" y="12573"/>
                    <a:pt x="71502" y="27940"/>
                  </a:cubicBezTo>
                  <a:cubicBezTo>
                    <a:pt x="71502" y="43307"/>
                    <a:pt x="58675" y="55880"/>
                    <a:pt x="43562" y="55880"/>
                  </a:cubicBezTo>
                  <a:cubicBezTo>
                    <a:pt x="42165" y="55880"/>
                    <a:pt x="41022" y="54737"/>
                    <a:pt x="41022" y="53340"/>
                  </a:cubicBezTo>
                  <a:cubicBezTo>
                    <a:pt x="41022" y="51943"/>
                    <a:pt x="42165" y="50800"/>
                    <a:pt x="43562" y="50800"/>
                  </a:cubicBezTo>
                  <a:close/>
                  <a:moveTo>
                    <a:pt x="35053" y="22225"/>
                  </a:moveTo>
                  <a:lnTo>
                    <a:pt x="19813" y="34925"/>
                  </a:lnTo>
                  <a:lnTo>
                    <a:pt x="18162" y="36322"/>
                  </a:lnTo>
                  <a:lnTo>
                    <a:pt x="16511" y="34925"/>
                  </a:lnTo>
                  <a:lnTo>
                    <a:pt x="1271" y="22225"/>
                  </a:lnTo>
                  <a:cubicBezTo>
                    <a:pt x="255" y="21336"/>
                    <a:pt x="0" y="19685"/>
                    <a:pt x="890" y="18669"/>
                  </a:cubicBezTo>
                  <a:cubicBezTo>
                    <a:pt x="1779" y="17653"/>
                    <a:pt x="3430" y="17399"/>
                    <a:pt x="4446" y="18288"/>
                  </a:cubicBezTo>
                  <a:lnTo>
                    <a:pt x="19686" y="30988"/>
                  </a:lnTo>
                  <a:lnTo>
                    <a:pt x="18035" y="32893"/>
                  </a:lnTo>
                  <a:lnTo>
                    <a:pt x="16384" y="30988"/>
                  </a:lnTo>
                  <a:lnTo>
                    <a:pt x="31624" y="18288"/>
                  </a:lnTo>
                  <a:cubicBezTo>
                    <a:pt x="32640" y="17399"/>
                    <a:pt x="34291" y="17526"/>
                    <a:pt x="35180" y="18669"/>
                  </a:cubicBezTo>
                  <a:cubicBezTo>
                    <a:pt x="36069" y="19812"/>
                    <a:pt x="35942" y="21336"/>
                    <a:pt x="34799" y="22225"/>
                  </a:cubicBezTo>
                  <a:close/>
                  <a:moveTo>
                    <a:pt x="195962" y="55880"/>
                  </a:moveTo>
                  <a:cubicBezTo>
                    <a:pt x="180595" y="55880"/>
                    <a:pt x="168022" y="43307"/>
                    <a:pt x="168022" y="27940"/>
                  </a:cubicBezTo>
                  <a:lnTo>
                    <a:pt x="170562" y="27940"/>
                  </a:lnTo>
                  <a:lnTo>
                    <a:pt x="168022" y="27940"/>
                  </a:lnTo>
                  <a:cubicBezTo>
                    <a:pt x="168022" y="12573"/>
                    <a:pt x="180595" y="0"/>
                    <a:pt x="195962" y="0"/>
                  </a:cubicBezTo>
                  <a:lnTo>
                    <a:pt x="195962" y="2540"/>
                  </a:lnTo>
                  <a:lnTo>
                    <a:pt x="195962" y="0"/>
                  </a:lnTo>
                  <a:cubicBezTo>
                    <a:pt x="211329" y="0"/>
                    <a:pt x="223902" y="12573"/>
                    <a:pt x="223902" y="27940"/>
                  </a:cubicBezTo>
                  <a:cubicBezTo>
                    <a:pt x="223902" y="29337"/>
                    <a:pt x="222759" y="30480"/>
                    <a:pt x="221362" y="30480"/>
                  </a:cubicBezTo>
                  <a:cubicBezTo>
                    <a:pt x="219965" y="30480"/>
                    <a:pt x="218822" y="29337"/>
                    <a:pt x="218822" y="27940"/>
                  </a:cubicBezTo>
                  <a:cubicBezTo>
                    <a:pt x="218822" y="15367"/>
                    <a:pt x="208535" y="5080"/>
                    <a:pt x="195962" y="5080"/>
                  </a:cubicBezTo>
                  <a:cubicBezTo>
                    <a:pt x="183389" y="5080"/>
                    <a:pt x="173102" y="15367"/>
                    <a:pt x="173102" y="27940"/>
                  </a:cubicBezTo>
                  <a:cubicBezTo>
                    <a:pt x="173102" y="40513"/>
                    <a:pt x="183389" y="50800"/>
                    <a:pt x="195962" y="50800"/>
                  </a:cubicBezTo>
                  <a:cubicBezTo>
                    <a:pt x="197359" y="50800"/>
                    <a:pt x="198502" y="51943"/>
                    <a:pt x="198502" y="53340"/>
                  </a:cubicBezTo>
                  <a:cubicBezTo>
                    <a:pt x="198502" y="54737"/>
                    <a:pt x="197359" y="55880"/>
                    <a:pt x="195962" y="55880"/>
                  </a:cubicBezTo>
                  <a:close/>
                  <a:moveTo>
                    <a:pt x="238253" y="22225"/>
                  </a:moveTo>
                  <a:lnTo>
                    <a:pt x="223013" y="34925"/>
                  </a:lnTo>
                  <a:lnTo>
                    <a:pt x="221362" y="36322"/>
                  </a:lnTo>
                  <a:lnTo>
                    <a:pt x="219711" y="34925"/>
                  </a:lnTo>
                  <a:lnTo>
                    <a:pt x="204471" y="22225"/>
                  </a:lnTo>
                  <a:cubicBezTo>
                    <a:pt x="203455" y="21336"/>
                    <a:pt x="203200" y="19685"/>
                    <a:pt x="204090" y="18669"/>
                  </a:cubicBezTo>
                  <a:cubicBezTo>
                    <a:pt x="204979" y="17653"/>
                    <a:pt x="206630" y="17399"/>
                    <a:pt x="207646" y="18288"/>
                  </a:cubicBezTo>
                  <a:lnTo>
                    <a:pt x="222886" y="30988"/>
                  </a:lnTo>
                  <a:lnTo>
                    <a:pt x="221235" y="32893"/>
                  </a:lnTo>
                  <a:lnTo>
                    <a:pt x="219584" y="30988"/>
                  </a:lnTo>
                  <a:lnTo>
                    <a:pt x="234824" y="18288"/>
                  </a:lnTo>
                  <a:cubicBezTo>
                    <a:pt x="235840" y="17399"/>
                    <a:pt x="237491" y="17526"/>
                    <a:pt x="238380" y="18669"/>
                  </a:cubicBezTo>
                  <a:cubicBezTo>
                    <a:pt x="239269" y="19812"/>
                    <a:pt x="239142" y="21336"/>
                    <a:pt x="237999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127504" y="63500"/>
              <a:ext cx="1943989" cy="1631823"/>
            </a:xfrm>
            <a:custGeom>
              <a:avLst/>
              <a:gdLst/>
              <a:ahLst/>
              <a:cxnLst/>
              <a:rect r="r" b="b" t="t" l="l"/>
              <a:pathLst>
                <a:path h="1631823" w="1943989">
                  <a:moveTo>
                    <a:pt x="0" y="1577848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1890014" y="0"/>
                  </a:lnTo>
                  <a:cubicBezTo>
                    <a:pt x="1919859" y="0"/>
                    <a:pt x="1943989" y="24130"/>
                    <a:pt x="1943989" y="53975"/>
                  </a:cubicBezTo>
                  <a:lnTo>
                    <a:pt x="1943989" y="1577848"/>
                  </a:lnTo>
                  <a:cubicBezTo>
                    <a:pt x="1943989" y="1607693"/>
                    <a:pt x="1919859" y="1631823"/>
                    <a:pt x="1890014" y="1631823"/>
                  </a:cubicBezTo>
                  <a:lnTo>
                    <a:pt x="53975" y="1631823"/>
                  </a:lnTo>
                  <a:cubicBezTo>
                    <a:pt x="24130" y="1631823"/>
                    <a:pt x="0" y="1607693"/>
                    <a:pt x="0" y="1577848"/>
                  </a:cubicBezTo>
                  <a:close/>
                </a:path>
              </a:pathLst>
            </a:custGeom>
            <a:solidFill>
              <a:srgbClr val="0000C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145538" y="294640"/>
              <a:ext cx="1908048" cy="1382649"/>
            </a:xfrm>
            <a:custGeom>
              <a:avLst/>
              <a:gdLst/>
              <a:ahLst/>
              <a:cxnLst/>
              <a:rect r="r" b="b" t="t" l="l"/>
              <a:pathLst>
                <a:path h="1382649" w="1908048">
                  <a:moveTo>
                    <a:pt x="0" y="1346708"/>
                  </a:moveTo>
                  <a:lnTo>
                    <a:pt x="0" y="0"/>
                  </a:lnTo>
                  <a:lnTo>
                    <a:pt x="1908048" y="0"/>
                  </a:lnTo>
                  <a:lnTo>
                    <a:pt x="1908048" y="1346708"/>
                  </a:lnTo>
                  <a:cubicBezTo>
                    <a:pt x="1908048" y="1366647"/>
                    <a:pt x="1891919" y="1382649"/>
                    <a:pt x="1872107" y="1382649"/>
                  </a:cubicBezTo>
                  <a:lnTo>
                    <a:pt x="35941" y="1382649"/>
                  </a:lnTo>
                  <a:cubicBezTo>
                    <a:pt x="16002" y="1382649"/>
                    <a:pt x="0" y="1366520"/>
                    <a:pt x="0" y="1346708"/>
                  </a:cubicBezTo>
                  <a:close/>
                </a:path>
              </a:pathLst>
            </a:custGeom>
            <a:solidFill>
              <a:srgbClr val="E6E6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1781302"/>
              <a:ext cx="3887978" cy="1115568"/>
            </a:xfrm>
            <a:custGeom>
              <a:avLst/>
              <a:gdLst/>
              <a:ahLst/>
              <a:cxnLst/>
              <a:rect r="r" b="b" t="t" l="l"/>
              <a:pathLst>
                <a:path h="1115568" w="3887978">
                  <a:moveTo>
                    <a:pt x="0" y="1061593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3834003" y="0"/>
                  </a:lnTo>
                  <a:cubicBezTo>
                    <a:pt x="3863848" y="0"/>
                    <a:pt x="3887978" y="24130"/>
                    <a:pt x="3887978" y="53975"/>
                  </a:cubicBezTo>
                  <a:lnTo>
                    <a:pt x="3887978" y="1061593"/>
                  </a:lnTo>
                  <a:cubicBezTo>
                    <a:pt x="3887978" y="1091438"/>
                    <a:pt x="3863848" y="1115568"/>
                    <a:pt x="3834003" y="1115568"/>
                  </a:cubicBezTo>
                  <a:lnTo>
                    <a:pt x="53975" y="1115568"/>
                  </a:lnTo>
                  <a:cubicBezTo>
                    <a:pt x="24130" y="1115568"/>
                    <a:pt x="0" y="1091438"/>
                    <a:pt x="0" y="1061593"/>
                  </a:cubicBezTo>
                  <a:close/>
                </a:path>
              </a:pathLst>
            </a:custGeom>
            <a:solidFill>
              <a:srgbClr val="D7C94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81534" y="2012442"/>
              <a:ext cx="3852037" cy="866394"/>
            </a:xfrm>
            <a:custGeom>
              <a:avLst/>
              <a:gdLst/>
              <a:ahLst/>
              <a:cxnLst/>
              <a:rect r="r" b="b" t="t" l="l"/>
              <a:pathLst>
                <a:path h="866394" w="3852037">
                  <a:moveTo>
                    <a:pt x="0" y="830453"/>
                  </a:moveTo>
                  <a:lnTo>
                    <a:pt x="0" y="0"/>
                  </a:lnTo>
                  <a:lnTo>
                    <a:pt x="3852037" y="0"/>
                  </a:lnTo>
                  <a:lnTo>
                    <a:pt x="3852037" y="830453"/>
                  </a:lnTo>
                  <a:cubicBezTo>
                    <a:pt x="3852037" y="850392"/>
                    <a:pt x="3835908" y="866394"/>
                    <a:pt x="3816096" y="866394"/>
                  </a:cubicBezTo>
                  <a:lnTo>
                    <a:pt x="35941" y="866394"/>
                  </a:lnTo>
                  <a:cubicBezTo>
                    <a:pt x="16002" y="866394"/>
                    <a:pt x="0" y="850265"/>
                    <a:pt x="0" y="830453"/>
                  </a:cubicBezTo>
                  <a:close/>
                </a:path>
              </a:pathLst>
            </a:custGeom>
            <a:solidFill>
              <a:srgbClr val="FFFDE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8004" y="78172"/>
            <a:ext cx="979713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7998" y="487394"/>
            <a:ext cx="1424530" cy="2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Orthographic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5089" y="772554"/>
            <a:ext cx="1296324" cy="115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thographic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projection,</a:t>
            </a:r>
          </a:p>
          <a:p>
            <a:pPr algn="just">
              <a:lnSpc>
                <a:spcPts val="2164"/>
              </a:lnSpc>
            </a:pPr>
            <a:r>
              <a:rPr lang="en-US" sz="109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not</a:t>
            </a:r>
            <a:r>
              <a:rPr lang="en-US" sz="109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perspective.</a:t>
            </a:r>
          </a:p>
          <a:p>
            <a:pPr algn="just">
              <a:lnSpc>
                <a:spcPts val="114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Required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rewrite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just">
              <a:lnSpc>
                <a:spcPts val="156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</a:t>
            </a:r>
          </a:p>
          <a:p>
            <a:pPr algn="just">
              <a:lnSpc>
                <a:spcPts val="114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script.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3511" y="772554"/>
            <a:ext cx="345834" cy="2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5073" y="772554"/>
            <a:ext cx="223742" cy="2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use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27076" y="772554"/>
            <a:ext cx="162087" cy="2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or-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22004" y="487394"/>
            <a:ext cx="914600" cy="254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99086" y="772554"/>
            <a:ext cx="1296372" cy="42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struggles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99086" y="1126236"/>
            <a:ext cx="1296391" cy="62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slices.</a:t>
            </a:r>
          </a:p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Utilized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M60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tank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701244" y="1126236"/>
            <a:ext cx="478069" cy="24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between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99086" y="1832810"/>
            <a:ext cx="461639" cy="9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39811" y="1832810"/>
            <a:ext cx="155448" cy="9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80470" y="1832810"/>
            <a:ext cx="499310" cy="9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99086" y="1852479"/>
            <a:ext cx="1047255" cy="245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7994" y="2157584"/>
            <a:ext cx="1644320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Progress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5085" y="2537974"/>
            <a:ext cx="3279210" cy="76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Initial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random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point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clouds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generated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via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splat-</a:t>
            </a:r>
          </a:p>
          <a:p>
            <a:pPr algn="l">
              <a:lnSpc>
                <a:spcPts val="94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ting.</a:t>
            </a:r>
          </a:p>
          <a:p>
            <a:pPr algn="l">
              <a:lnSpc>
                <a:spcPts val="2360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Tweaked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parameters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(iterations,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density)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re-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sults.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76508" y="483994"/>
            <a:ext cx="2071021" cy="1758791"/>
            <a:chOff x="0" y="0"/>
            <a:chExt cx="2071027" cy="17587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943989" cy="1631823"/>
            </a:xfrm>
            <a:custGeom>
              <a:avLst/>
              <a:gdLst/>
              <a:ahLst/>
              <a:cxnLst/>
              <a:rect r="r" b="b" t="t" l="l"/>
              <a:pathLst>
                <a:path h="1631823" w="1943989">
                  <a:moveTo>
                    <a:pt x="0" y="1577848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1890014" y="0"/>
                  </a:lnTo>
                  <a:cubicBezTo>
                    <a:pt x="1919859" y="0"/>
                    <a:pt x="1943989" y="24130"/>
                    <a:pt x="1943989" y="53975"/>
                  </a:cubicBezTo>
                  <a:lnTo>
                    <a:pt x="1943989" y="1577848"/>
                  </a:lnTo>
                  <a:cubicBezTo>
                    <a:pt x="1943989" y="1607693"/>
                    <a:pt x="1919859" y="1631823"/>
                    <a:pt x="1890014" y="1631823"/>
                  </a:cubicBezTo>
                  <a:lnTo>
                    <a:pt x="53975" y="1631823"/>
                  </a:lnTo>
                  <a:cubicBezTo>
                    <a:pt x="24130" y="1631823"/>
                    <a:pt x="0" y="1607693"/>
                    <a:pt x="0" y="1577848"/>
                  </a:cubicBezTo>
                  <a:close/>
                </a:path>
              </a:pathLst>
            </a:custGeom>
            <a:solidFill>
              <a:srgbClr val="00CC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1534" y="294640"/>
              <a:ext cx="1908048" cy="1382649"/>
            </a:xfrm>
            <a:custGeom>
              <a:avLst/>
              <a:gdLst/>
              <a:ahLst/>
              <a:cxnLst/>
              <a:rect r="r" b="b" t="t" l="l"/>
              <a:pathLst>
                <a:path h="1382649" w="1908048">
                  <a:moveTo>
                    <a:pt x="0" y="1346708"/>
                  </a:moveTo>
                  <a:lnTo>
                    <a:pt x="0" y="0"/>
                  </a:lnTo>
                  <a:lnTo>
                    <a:pt x="1908048" y="0"/>
                  </a:lnTo>
                  <a:lnTo>
                    <a:pt x="1908048" y="1346708"/>
                  </a:lnTo>
                  <a:cubicBezTo>
                    <a:pt x="1908048" y="1366647"/>
                    <a:pt x="1891919" y="1382649"/>
                    <a:pt x="1872107" y="1382649"/>
                  </a:cubicBezTo>
                  <a:lnTo>
                    <a:pt x="35941" y="1382649"/>
                  </a:lnTo>
                  <a:cubicBezTo>
                    <a:pt x="16002" y="1382649"/>
                    <a:pt x="0" y="1366520"/>
                    <a:pt x="0" y="1346708"/>
                  </a:cubicBezTo>
                  <a:close/>
                </a:path>
              </a:pathLst>
            </a:custGeom>
            <a:solidFill>
              <a:srgbClr val="E6FFE6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96494" y="483994"/>
            <a:ext cx="4332646" cy="3035513"/>
            <a:chOff x="0" y="0"/>
            <a:chExt cx="4332643" cy="30355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769997" y="2884678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93035" y="2883281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870835" y="2883281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24632" y="2874391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963926" y="2883281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23844" y="2885821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234944" y="2883281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11144" y="2873121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82162" y="2873121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505962" y="2883281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582162" y="2911221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53053" y="2873121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151884" y="2904744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125214" y="2878455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099" y="17653"/>
                  </a:moveTo>
                  <a:cubicBezTo>
                    <a:pt x="30099" y="10668"/>
                    <a:pt x="24384" y="4953"/>
                    <a:pt x="17399" y="4953"/>
                  </a:cubicBezTo>
                  <a:lnTo>
                    <a:pt x="17399" y="2413"/>
                  </a:lnTo>
                  <a:lnTo>
                    <a:pt x="17399" y="4953"/>
                  </a:lnTo>
                  <a:cubicBezTo>
                    <a:pt x="10414" y="4953"/>
                    <a:pt x="4699" y="10668"/>
                    <a:pt x="4699" y="17653"/>
                  </a:cubicBezTo>
                  <a:lnTo>
                    <a:pt x="2286" y="17653"/>
                  </a:lnTo>
                  <a:lnTo>
                    <a:pt x="4826" y="17653"/>
                  </a:lnTo>
                  <a:cubicBezTo>
                    <a:pt x="4826" y="24638"/>
                    <a:pt x="10541" y="30353"/>
                    <a:pt x="17526" y="30353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4029709" y="2874391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2" y="50800"/>
                  </a:moveTo>
                  <a:cubicBezTo>
                    <a:pt x="55881" y="50800"/>
                    <a:pt x="66422" y="40513"/>
                    <a:pt x="66422" y="27940"/>
                  </a:cubicBezTo>
                  <a:lnTo>
                    <a:pt x="68962" y="27940"/>
                  </a:lnTo>
                  <a:lnTo>
                    <a:pt x="66422" y="27940"/>
                  </a:lnTo>
                  <a:cubicBezTo>
                    <a:pt x="66422" y="15367"/>
                    <a:pt x="56135" y="5080"/>
                    <a:pt x="43562" y="5080"/>
                  </a:cubicBezTo>
                  <a:lnTo>
                    <a:pt x="43562" y="2540"/>
                  </a:lnTo>
                  <a:lnTo>
                    <a:pt x="43562" y="5080"/>
                  </a:lnTo>
                  <a:cubicBezTo>
                    <a:pt x="30989" y="5080"/>
                    <a:pt x="20702" y="15367"/>
                    <a:pt x="20702" y="27940"/>
                  </a:cubicBezTo>
                  <a:cubicBezTo>
                    <a:pt x="20702" y="29337"/>
                    <a:pt x="19559" y="30480"/>
                    <a:pt x="18162" y="30480"/>
                  </a:cubicBezTo>
                  <a:cubicBezTo>
                    <a:pt x="16765" y="30480"/>
                    <a:pt x="15622" y="29337"/>
                    <a:pt x="15622" y="27940"/>
                  </a:cubicBezTo>
                  <a:cubicBezTo>
                    <a:pt x="15622" y="12573"/>
                    <a:pt x="28195" y="0"/>
                    <a:pt x="43562" y="0"/>
                  </a:cubicBezTo>
                  <a:cubicBezTo>
                    <a:pt x="58929" y="0"/>
                    <a:pt x="71502" y="12573"/>
                    <a:pt x="71502" y="27940"/>
                  </a:cubicBezTo>
                  <a:cubicBezTo>
                    <a:pt x="71502" y="43307"/>
                    <a:pt x="58675" y="55880"/>
                    <a:pt x="43562" y="55880"/>
                  </a:cubicBezTo>
                  <a:cubicBezTo>
                    <a:pt x="42165" y="55880"/>
                    <a:pt x="41022" y="54737"/>
                    <a:pt x="41022" y="53340"/>
                  </a:cubicBezTo>
                  <a:cubicBezTo>
                    <a:pt x="41022" y="51943"/>
                    <a:pt x="42165" y="50800"/>
                    <a:pt x="43562" y="50800"/>
                  </a:cubicBezTo>
                  <a:close/>
                  <a:moveTo>
                    <a:pt x="35053" y="22225"/>
                  </a:moveTo>
                  <a:lnTo>
                    <a:pt x="19813" y="34925"/>
                  </a:lnTo>
                  <a:lnTo>
                    <a:pt x="18162" y="36322"/>
                  </a:lnTo>
                  <a:lnTo>
                    <a:pt x="16511" y="34925"/>
                  </a:lnTo>
                  <a:lnTo>
                    <a:pt x="1271" y="22225"/>
                  </a:lnTo>
                  <a:cubicBezTo>
                    <a:pt x="255" y="21336"/>
                    <a:pt x="0" y="19685"/>
                    <a:pt x="890" y="18669"/>
                  </a:cubicBezTo>
                  <a:cubicBezTo>
                    <a:pt x="1779" y="17653"/>
                    <a:pt x="3430" y="17399"/>
                    <a:pt x="4446" y="18288"/>
                  </a:cubicBezTo>
                  <a:lnTo>
                    <a:pt x="19686" y="30988"/>
                  </a:lnTo>
                  <a:lnTo>
                    <a:pt x="18035" y="32893"/>
                  </a:lnTo>
                  <a:lnTo>
                    <a:pt x="16384" y="30988"/>
                  </a:lnTo>
                  <a:lnTo>
                    <a:pt x="31624" y="18288"/>
                  </a:lnTo>
                  <a:cubicBezTo>
                    <a:pt x="32640" y="17399"/>
                    <a:pt x="34291" y="17526"/>
                    <a:pt x="35180" y="18669"/>
                  </a:cubicBezTo>
                  <a:cubicBezTo>
                    <a:pt x="36069" y="19812"/>
                    <a:pt x="35942" y="21336"/>
                    <a:pt x="34799" y="22225"/>
                  </a:cubicBezTo>
                  <a:close/>
                  <a:moveTo>
                    <a:pt x="195962" y="55880"/>
                  </a:moveTo>
                  <a:cubicBezTo>
                    <a:pt x="180595" y="55880"/>
                    <a:pt x="168022" y="43307"/>
                    <a:pt x="168022" y="27940"/>
                  </a:cubicBezTo>
                  <a:lnTo>
                    <a:pt x="170562" y="27940"/>
                  </a:lnTo>
                  <a:lnTo>
                    <a:pt x="168022" y="27940"/>
                  </a:lnTo>
                  <a:cubicBezTo>
                    <a:pt x="168022" y="12573"/>
                    <a:pt x="180595" y="0"/>
                    <a:pt x="195962" y="0"/>
                  </a:cubicBezTo>
                  <a:lnTo>
                    <a:pt x="195962" y="2540"/>
                  </a:lnTo>
                  <a:lnTo>
                    <a:pt x="195962" y="0"/>
                  </a:lnTo>
                  <a:cubicBezTo>
                    <a:pt x="211329" y="0"/>
                    <a:pt x="223902" y="12573"/>
                    <a:pt x="223902" y="27940"/>
                  </a:cubicBezTo>
                  <a:cubicBezTo>
                    <a:pt x="223902" y="29337"/>
                    <a:pt x="222759" y="30480"/>
                    <a:pt x="221362" y="30480"/>
                  </a:cubicBezTo>
                  <a:cubicBezTo>
                    <a:pt x="219965" y="30480"/>
                    <a:pt x="218822" y="29337"/>
                    <a:pt x="218822" y="27940"/>
                  </a:cubicBezTo>
                  <a:cubicBezTo>
                    <a:pt x="218822" y="15367"/>
                    <a:pt x="208535" y="5080"/>
                    <a:pt x="195962" y="5080"/>
                  </a:cubicBezTo>
                  <a:cubicBezTo>
                    <a:pt x="183389" y="5080"/>
                    <a:pt x="173102" y="15367"/>
                    <a:pt x="173102" y="27940"/>
                  </a:cubicBezTo>
                  <a:cubicBezTo>
                    <a:pt x="173102" y="40513"/>
                    <a:pt x="183389" y="50800"/>
                    <a:pt x="195962" y="50800"/>
                  </a:cubicBezTo>
                  <a:cubicBezTo>
                    <a:pt x="197359" y="50800"/>
                    <a:pt x="198502" y="51943"/>
                    <a:pt x="198502" y="53340"/>
                  </a:cubicBezTo>
                  <a:cubicBezTo>
                    <a:pt x="198502" y="54737"/>
                    <a:pt x="197359" y="55880"/>
                    <a:pt x="195962" y="55880"/>
                  </a:cubicBezTo>
                  <a:close/>
                  <a:moveTo>
                    <a:pt x="238253" y="22225"/>
                  </a:moveTo>
                  <a:lnTo>
                    <a:pt x="223013" y="34925"/>
                  </a:lnTo>
                  <a:lnTo>
                    <a:pt x="221362" y="36322"/>
                  </a:lnTo>
                  <a:lnTo>
                    <a:pt x="219711" y="34925"/>
                  </a:lnTo>
                  <a:lnTo>
                    <a:pt x="204471" y="22225"/>
                  </a:lnTo>
                  <a:cubicBezTo>
                    <a:pt x="203455" y="21336"/>
                    <a:pt x="203200" y="19685"/>
                    <a:pt x="204090" y="18669"/>
                  </a:cubicBezTo>
                  <a:cubicBezTo>
                    <a:pt x="204979" y="17653"/>
                    <a:pt x="206630" y="17399"/>
                    <a:pt x="207646" y="18288"/>
                  </a:cubicBezTo>
                  <a:lnTo>
                    <a:pt x="222886" y="30988"/>
                  </a:lnTo>
                  <a:lnTo>
                    <a:pt x="221235" y="32893"/>
                  </a:lnTo>
                  <a:lnTo>
                    <a:pt x="219584" y="30988"/>
                  </a:lnTo>
                  <a:lnTo>
                    <a:pt x="234824" y="18288"/>
                  </a:lnTo>
                  <a:cubicBezTo>
                    <a:pt x="235840" y="17399"/>
                    <a:pt x="237491" y="17526"/>
                    <a:pt x="238380" y="18669"/>
                  </a:cubicBezTo>
                  <a:cubicBezTo>
                    <a:pt x="239269" y="19812"/>
                    <a:pt x="239142" y="21336"/>
                    <a:pt x="237999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127504" y="63500"/>
              <a:ext cx="1943989" cy="1776857"/>
            </a:xfrm>
            <a:custGeom>
              <a:avLst/>
              <a:gdLst/>
              <a:ahLst/>
              <a:cxnLst/>
              <a:rect r="r" b="b" t="t" l="l"/>
              <a:pathLst>
                <a:path h="1776857" w="1943989">
                  <a:moveTo>
                    <a:pt x="0" y="1722882"/>
                  </a:moveTo>
                  <a:lnTo>
                    <a:pt x="0" y="53975"/>
                  </a:lnTo>
                  <a:cubicBezTo>
                    <a:pt x="0" y="24130"/>
                    <a:pt x="24130" y="0"/>
                    <a:pt x="53975" y="0"/>
                  </a:cubicBezTo>
                  <a:lnTo>
                    <a:pt x="1890014" y="0"/>
                  </a:lnTo>
                  <a:cubicBezTo>
                    <a:pt x="1919859" y="0"/>
                    <a:pt x="1943989" y="24130"/>
                    <a:pt x="1943989" y="53975"/>
                  </a:cubicBezTo>
                  <a:lnTo>
                    <a:pt x="1943989" y="1722882"/>
                  </a:lnTo>
                  <a:cubicBezTo>
                    <a:pt x="1943989" y="1752727"/>
                    <a:pt x="1919859" y="1776857"/>
                    <a:pt x="1890014" y="1776857"/>
                  </a:cubicBezTo>
                  <a:lnTo>
                    <a:pt x="53975" y="1776857"/>
                  </a:lnTo>
                  <a:cubicBezTo>
                    <a:pt x="24130" y="1776857"/>
                    <a:pt x="0" y="1752727"/>
                    <a:pt x="0" y="1722882"/>
                  </a:cubicBezTo>
                  <a:close/>
                </a:path>
              </a:pathLst>
            </a:custGeom>
            <a:solidFill>
              <a:srgbClr val="0000C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145538" y="439801"/>
              <a:ext cx="1908048" cy="1382522"/>
            </a:xfrm>
            <a:custGeom>
              <a:avLst/>
              <a:gdLst/>
              <a:ahLst/>
              <a:cxnLst/>
              <a:rect r="r" b="b" t="t" l="l"/>
              <a:pathLst>
                <a:path h="1382522" w="1908048">
                  <a:moveTo>
                    <a:pt x="0" y="1346581"/>
                  </a:moveTo>
                  <a:lnTo>
                    <a:pt x="0" y="0"/>
                  </a:lnTo>
                  <a:lnTo>
                    <a:pt x="1908048" y="0"/>
                  </a:lnTo>
                  <a:lnTo>
                    <a:pt x="1908048" y="1346581"/>
                  </a:lnTo>
                  <a:cubicBezTo>
                    <a:pt x="1908048" y="1366520"/>
                    <a:pt x="1891919" y="1382522"/>
                    <a:pt x="1872107" y="1382522"/>
                  </a:cubicBezTo>
                  <a:lnTo>
                    <a:pt x="35941" y="1382522"/>
                  </a:lnTo>
                  <a:cubicBezTo>
                    <a:pt x="16002" y="1382522"/>
                    <a:pt x="0" y="1366393"/>
                    <a:pt x="0" y="1346581"/>
                  </a:cubicBezTo>
                  <a:close/>
                </a:path>
              </a:pathLst>
            </a:custGeom>
            <a:solidFill>
              <a:srgbClr val="E6E6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1926463"/>
              <a:ext cx="3888105" cy="1045591"/>
            </a:xfrm>
            <a:custGeom>
              <a:avLst/>
              <a:gdLst/>
              <a:ahLst/>
              <a:cxnLst/>
              <a:rect r="r" b="b" t="t" l="l"/>
              <a:pathLst>
                <a:path h="1045591" w="3888105">
                  <a:moveTo>
                    <a:pt x="53975" y="0"/>
                  </a:moveTo>
                  <a:cubicBezTo>
                    <a:pt x="24130" y="0"/>
                    <a:pt x="0" y="24130"/>
                    <a:pt x="0" y="53975"/>
                  </a:cubicBezTo>
                  <a:lnTo>
                    <a:pt x="0" y="1045591"/>
                  </a:lnTo>
                  <a:lnTo>
                    <a:pt x="3888105" y="1045591"/>
                  </a:lnTo>
                  <a:lnTo>
                    <a:pt x="3888105" y="53975"/>
                  </a:lnTo>
                  <a:cubicBezTo>
                    <a:pt x="3888105" y="24130"/>
                    <a:pt x="3863975" y="0"/>
                    <a:pt x="3834130" y="0"/>
                  </a:cubicBezTo>
                  <a:close/>
                </a:path>
              </a:pathLst>
            </a:custGeom>
            <a:solidFill>
              <a:srgbClr val="D7C94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81534" y="2157603"/>
              <a:ext cx="3852037" cy="814451"/>
            </a:xfrm>
            <a:custGeom>
              <a:avLst/>
              <a:gdLst/>
              <a:ahLst/>
              <a:cxnLst/>
              <a:rect r="r" b="b" t="t" l="l"/>
              <a:pathLst>
                <a:path h="814451" w="3852037">
                  <a:moveTo>
                    <a:pt x="0" y="0"/>
                  </a:moveTo>
                  <a:lnTo>
                    <a:pt x="0" y="814451"/>
                  </a:lnTo>
                  <a:lnTo>
                    <a:pt x="3852037" y="814451"/>
                  </a:lnTo>
                  <a:lnTo>
                    <a:pt x="3852037" y="0"/>
                  </a:lnTo>
                  <a:close/>
                </a:path>
              </a:pathLst>
            </a:custGeom>
            <a:solidFill>
              <a:srgbClr val="FFFDE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8004" y="78172"/>
            <a:ext cx="2101082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Implications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Findings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7998" y="487394"/>
            <a:ext cx="1578931" cy="126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Impact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 Orthographic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projec-</a:t>
            </a:r>
          </a:p>
          <a:p>
            <a:pPr algn="l">
              <a:lnSpc>
                <a:spcPts val="545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tion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reflects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</a:p>
          <a:p>
            <a:pPr algn="l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realities.</a:t>
            </a:r>
          </a:p>
          <a:p>
            <a:pPr algn="l">
              <a:lnSpc>
                <a:spcPts val="114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1566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pipelines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5089" y="1431512"/>
            <a:ext cx="1296381" cy="66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r">
              <a:lnSpc>
                <a:spcPts val="1566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sup-</a:t>
            </a:r>
          </a:p>
          <a:p>
            <a:pPr algn="r">
              <a:lnSpc>
                <a:spcPts val="114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port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</a:t>
            </a:r>
          </a:p>
          <a:p>
            <a:pPr algn="r">
              <a:lnSpc>
                <a:spcPts val="156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standards.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6806" y="1565491"/>
            <a:ext cx="155448" cy="18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6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22004" y="573119"/>
            <a:ext cx="1578912" cy="34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Challenges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Reconstruc- 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99086" y="870061"/>
            <a:ext cx="1296352" cy="13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0"/>
              </a:lnSpc>
            </a:pP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dependency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on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lim-</a:t>
            </a:r>
          </a:p>
          <a:p>
            <a:pPr algn="just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feasibility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datasets.</a:t>
            </a:r>
          </a:p>
          <a:p>
            <a:pPr algn="just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improving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handling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</a:p>
          <a:p>
            <a:pPr algn="just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with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minimal</a:t>
            </a:r>
          </a:p>
          <a:p>
            <a:pPr algn="just">
              <a:lnSpc>
                <a:spcPts val="216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7994" y="2302726"/>
            <a:ext cx="1675448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Potential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5085" y="2683116"/>
            <a:ext cx="3279238" cy="76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holds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potential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clearer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visual-</a:t>
            </a:r>
          </a:p>
          <a:p>
            <a:pPr algn="l">
              <a:lnSpc>
                <a:spcPts val="94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ization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scans.</a:t>
            </a:r>
          </a:p>
          <a:p>
            <a:pPr algn="l">
              <a:lnSpc>
                <a:spcPts val="2360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Refinements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parameters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lead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better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</a:p>
          <a:p>
            <a:pPr algn="l">
              <a:lnSpc>
                <a:spcPts val="545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techniques.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2031330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Acknowledging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001" y="726119"/>
            <a:ext cx="900560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0001" y="2026129"/>
            <a:ext cx="1594428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Codebase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SfMProblems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23998" y="726119"/>
            <a:ext cx="1008917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Testing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093" y="2225269"/>
            <a:ext cx="1700317" cy="751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3"/>
              </a:lnSpc>
            </a:pP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Incompatible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dependencies. SfM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failed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due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3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lack</a:t>
            </a:r>
          </a:p>
          <a:p>
            <a:pPr algn="just">
              <a:lnSpc>
                <a:spcPts val="1056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common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features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</a:p>
          <a:p>
            <a:pPr algn="just">
              <a:lnSpc>
                <a:spcPts val="1653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093" y="953814"/>
            <a:ext cx="1700232" cy="73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Limited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resorted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 raw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slices.</a:t>
            </a:r>
          </a:p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Conversion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(JPEG2000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→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.png).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8451" y="1278769"/>
            <a:ext cx="332080" cy="22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issues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080" y="983342"/>
            <a:ext cx="1700251" cy="34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splatting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ran- dom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1080" y="1308297"/>
            <a:ext cx="483232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Camera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graphic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88878" y="1308297"/>
            <a:ext cx="572710" cy="22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extrinsics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64257" y="1308297"/>
            <a:ext cx="411785" cy="39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(ortho-</a:t>
            </a:r>
          </a:p>
          <a:p>
            <a:pPr algn="r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were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03203" y="1594675"/>
            <a:ext cx="668626" cy="11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projection)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01080" y="1652445"/>
            <a:ext cx="1105786" cy="22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manually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adjusted.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2435047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Suggestions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Future</a:t>
            </a:r>
            <a:r>
              <a:rPr lang="en-US" sz="1434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001" y="2061839"/>
            <a:ext cx="1851041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Enhancing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Flexibility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0001" y="567928"/>
            <a:ext cx="1868900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Improving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Compatibility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23998" y="596503"/>
            <a:ext cx="1595104" cy="34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Optimization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Gaussian Splatting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23998" y="2238975"/>
            <a:ext cx="1666561" cy="19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3"/>
              </a:lnSpc>
            </a:pP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Utilizing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GPU-based</a:t>
            </a:r>
            <a:r>
              <a:rPr lang="en-US" sz="119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95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Tools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093" y="2319052"/>
            <a:ext cx="1700279" cy="89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Adapt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pipeline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wider range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of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imaging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modalities.</a:t>
            </a:r>
          </a:p>
          <a:p>
            <a:pPr algn="just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Implement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automated</a:t>
            </a:r>
          </a:p>
          <a:p>
            <a:pPr algn="just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SfM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solutions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</a:t>
            </a:r>
          </a:p>
          <a:p>
            <a:pPr algn="just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datasets.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7093" y="825141"/>
            <a:ext cx="1700289" cy="89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 datasets,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especially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DICOM.</a:t>
            </a:r>
          </a:p>
          <a:p>
            <a:pPr algn="just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Investigate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alternative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im-</a:t>
            </a:r>
          </a:p>
          <a:p>
            <a:pPr algn="just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age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formats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preprocess-</a:t>
            </a:r>
          </a:p>
          <a:p>
            <a:pPr algn="just">
              <a:lnSpc>
                <a:spcPts val="1952"/>
              </a:lnSpc>
            </a:pP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ing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5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080" y="1002287"/>
            <a:ext cx="1700260" cy="89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Explore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multi-resolution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ap- proaches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to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improve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image clarity.</a:t>
            </a:r>
          </a:p>
          <a:p>
            <a:pPr algn="just">
              <a:lnSpc>
                <a:spcPts val="1952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Fine-tune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parameters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bet-</a:t>
            </a:r>
          </a:p>
          <a:p>
            <a:pPr algn="just">
              <a:lnSpc>
                <a:spcPts val="757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convergence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and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detail.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01080" y="2496198"/>
            <a:ext cx="1700308" cy="51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54"/>
              </a:lnSpc>
            </a:pP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Develop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optimized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rasteriza- tion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methods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for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090" spc="2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medical datasets.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925966" y="3293621"/>
            <a:ext cx="1143133" cy="185395"/>
            <a:chOff x="0" y="0"/>
            <a:chExt cx="1143127" cy="185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589" y="75057"/>
              <a:ext cx="48133" cy="35433"/>
            </a:xfrm>
            <a:custGeom>
              <a:avLst/>
              <a:gdLst/>
              <a:ahLst/>
              <a:cxnLst/>
              <a:rect r="r" b="b" t="t" l="l"/>
              <a:pathLst>
                <a:path h="35433" w="48133">
                  <a:moveTo>
                    <a:pt x="2540" y="30353"/>
                  </a:moveTo>
                  <a:lnTo>
                    <a:pt x="45593" y="30353"/>
                  </a:lnTo>
                  <a:lnTo>
                    <a:pt x="45593" y="32893"/>
                  </a:lnTo>
                  <a:lnTo>
                    <a:pt x="43053" y="32893"/>
                  </a:lnTo>
                  <a:lnTo>
                    <a:pt x="43053" y="2540"/>
                  </a:lnTo>
                  <a:lnTo>
                    <a:pt x="45593" y="2540"/>
                  </a:lnTo>
                  <a:lnTo>
                    <a:pt x="45593" y="5080"/>
                  </a:lnTo>
                  <a:lnTo>
                    <a:pt x="2540" y="5080"/>
                  </a:lnTo>
                  <a:lnTo>
                    <a:pt x="2540" y="2540"/>
                  </a:lnTo>
                  <a:lnTo>
                    <a:pt x="5080" y="2540"/>
                  </a:lnTo>
                  <a:lnTo>
                    <a:pt x="5080" y="32893"/>
                  </a:lnTo>
                  <a:lnTo>
                    <a:pt x="2540" y="32893"/>
                  </a:lnTo>
                  <a:lnTo>
                    <a:pt x="2540" y="30353"/>
                  </a:lnTo>
                  <a:moveTo>
                    <a:pt x="2540" y="35433"/>
                  </a:moveTo>
                  <a:lnTo>
                    <a:pt x="0" y="35433"/>
                  </a:lnTo>
                  <a:lnTo>
                    <a:pt x="0" y="32893"/>
                  </a:lnTo>
                  <a:lnTo>
                    <a:pt x="0" y="2540"/>
                  </a:lnTo>
                  <a:lnTo>
                    <a:pt x="0" y="0"/>
                  </a:lnTo>
                  <a:lnTo>
                    <a:pt x="2540" y="0"/>
                  </a:lnTo>
                  <a:lnTo>
                    <a:pt x="45593" y="0"/>
                  </a:lnTo>
                  <a:lnTo>
                    <a:pt x="48133" y="0"/>
                  </a:lnTo>
                  <a:lnTo>
                    <a:pt x="48133" y="2540"/>
                  </a:lnTo>
                  <a:lnTo>
                    <a:pt x="48133" y="32893"/>
                  </a:lnTo>
                  <a:lnTo>
                    <a:pt x="48133" y="35433"/>
                  </a:lnTo>
                  <a:lnTo>
                    <a:pt x="45593" y="35433"/>
                  </a:lnTo>
                  <a:lnTo>
                    <a:pt x="2540" y="35433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300" y="73660"/>
              <a:ext cx="25400" cy="38100"/>
            </a:xfrm>
            <a:custGeom>
              <a:avLst/>
              <a:gdLst/>
              <a:ahLst/>
              <a:cxnLst/>
              <a:rect r="r" b="b" t="t" l="l"/>
              <a:pathLst>
                <a:path h="38100" w="25400">
                  <a:moveTo>
                    <a:pt x="0" y="38100"/>
                  </a:moveTo>
                  <a:lnTo>
                    <a:pt x="25400" y="19050"/>
                  </a:lnTo>
                  <a:lnTo>
                    <a:pt x="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5097" y="64770"/>
              <a:ext cx="68961" cy="55880"/>
            </a:xfrm>
            <a:custGeom>
              <a:avLst/>
              <a:gdLst/>
              <a:ahLst/>
              <a:cxnLst/>
              <a:rect r="r" b="b" t="t" l="l"/>
              <a:pathLst>
                <a:path h="55880" w="68961">
                  <a:moveTo>
                    <a:pt x="2540" y="50800"/>
                  </a:moveTo>
                  <a:lnTo>
                    <a:pt x="45593" y="50800"/>
                  </a:lnTo>
                  <a:lnTo>
                    <a:pt x="45593" y="53340"/>
                  </a:lnTo>
                  <a:lnTo>
                    <a:pt x="43053" y="53340"/>
                  </a:lnTo>
                  <a:lnTo>
                    <a:pt x="43053" y="22987"/>
                  </a:lnTo>
                  <a:lnTo>
                    <a:pt x="45593" y="22987"/>
                  </a:lnTo>
                  <a:lnTo>
                    <a:pt x="45593" y="25527"/>
                  </a:lnTo>
                  <a:lnTo>
                    <a:pt x="2540" y="25527"/>
                  </a:lnTo>
                  <a:lnTo>
                    <a:pt x="2540" y="22987"/>
                  </a:lnTo>
                  <a:lnTo>
                    <a:pt x="5080" y="22987"/>
                  </a:lnTo>
                  <a:lnTo>
                    <a:pt x="5080" y="53340"/>
                  </a:lnTo>
                  <a:lnTo>
                    <a:pt x="2540" y="53340"/>
                  </a:lnTo>
                  <a:lnTo>
                    <a:pt x="2540" y="50800"/>
                  </a:lnTo>
                  <a:moveTo>
                    <a:pt x="2540" y="55880"/>
                  </a:moveTo>
                  <a:lnTo>
                    <a:pt x="0" y="55880"/>
                  </a:lnTo>
                  <a:lnTo>
                    <a:pt x="0" y="53340"/>
                  </a:lnTo>
                  <a:lnTo>
                    <a:pt x="0" y="22987"/>
                  </a:lnTo>
                  <a:lnTo>
                    <a:pt x="0" y="20447"/>
                  </a:lnTo>
                  <a:lnTo>
                    <a:pt x="2540" y="20447"/>
                  </a:lnTo>
                  <a:lnTo>
                    <a:pt x="45593" y="20447"/>
                  </a:lnTo>
                  <a:lnTo>
                    <a:pt x="48133" y="20447"/>
                  </a:lnTo>
                  <a:lnTo>
                    <a:pt x="48133" y="22987"/>
                  </a:lnTo>
                  <a:lnTo>
                    <a:pt x="48133" y="53340"/>
                  </a:lnTo>
                  <a:lnTo>
                    <a:pt x="48133" y="55880"/>
                  </a:lnTo>
                  <a:lnTo>
                    <a:pt x="45593" y="55880"/>
                  </a:lnTo>
                  <a:lnTo>
                    <a:pt x="2540" y="55880"/>
                  </a:lnTo>
                  <a:close/>
                  <a:moveTo>
                    <a:pt x="10541" y="22860"/>
                  </a:moveTo>
                  <a:lnTo>
                    <a:pt x="10541" y="12700"/>
                  </a:lnTo>
                  <a:lnTo>
                    <a:pt x="10541" y="10160"/>
                  </a:lnTo>
                  <a:lnTo>
                    <a:pt x="13081" y="10160"/>
                  </a:lnTo>
                  <a:lnTo>
                    <a:pt x="56261" y="10160"/>
                  </a:lnTo>
                  <a:lnTo>
                    <a:pt x="58801" y="10160"/>
                  </a:lnTo>
                  <a:lnTo>
                    <a:pt x="58801" y="12700"/>
                  </a:lnTo>
                  <a:lnTo>
                    <a:pt x="58801" y="43180"/>
                  </a:lnTo>
                  <a:lnTo>
                    <a:pt x="58801" y="45720"/>
                  </a:lnTo>
                  <a:lnTo>
                    <a:pt x="56261" y="45720"/>
                  </a:lnTo>
                  <a:lnTo>
                    <a:pt x="46101" y="45720"/>
                  </a:lnTo>
                  <a:lnTo>
                    <a:pt x="46101" y="40640"/>
                  </a:lnTo>
                  <a:lnTo>
                    <a:pt x="56261" y="40640"/>
                  </a:lnTo>
                  <a:lnTo>
                    <a:pt x="56261" y="43180"/>
                  </a:lnTo>
                  <a:lnTo>
                    <a:pt x="53721" y="43180"/>
                  </a:lnTo>
                  <a:lnTo>
                    <a:pt x="53721" y="12700"/>
                  </a:lnTo>
                  <a:lnTo>
                    <a:pt x="56261" y="12700"/>
                  </a:lnTo>
                  <a:lnTo>
                    <a:pt x="56261" y="15240"/>
                  </a:lnTo>
                  <a:lnTo>
                    <a:pt x="13081" y="15240"/>
                  </a:lnTo>
                  <a:lnTo>
                    <a:pt x="13081" y="12700"/>
                  </a:lnTo>
                  <a:lnTo>
                    <a:pt x="15621" y="12700"/>
                  </a:lnTo>
                  <a:lnTo>
                    <a:pt x="15621" y="22860"/>
                  </a:lnTo>
                  <a:close/>
                  <a:moveTo>
                    <a:pt x="20701" y="12700"/>
                  </a:moveTo>
                  <a:lnTo>
                    <a:pt x="20701" y="2540"/>
                  </a:lnTo>
                  <a:lnTo>
                    <a:pt x="20701" y="0"/>
                  </a:lnTo>
                  <a:lnTo>
                    <a:pt x="23241" y="0"/>
                  </a:lnTo>
                  <a:lnTo>
                    <a:pt x="66421" y="0"/>
                  </a:lnTo>
                  <a:lnTo>
                    <a:pt x="68961" y="0"/>
                  </a:lnTo>
                  <a:lnTo>
                    <a:pt x="68961" y="2540"/>
                  </a:lnTo>
                  <a:lnTo>
                    <a:pt x="68961" y="33020"/>
                  </a:lnTo>
                  <a:lnTo>
                    <a:pt x="68961" y="35560"/>
                  </a:lnTo>
                  <a:lnTo>
                    <a:pt x="66421" y="35560"/>
                  </a:lnTo>
                  <a:lnTo>
                    <a:pt x="56261" y="35560"/>
                  </a:lnTo>
                  <a:lnTo>
                    <a:pt x="56261" y="30480"/>
                  </a:lnTo>
                  <a:lnTo>
                    <a:pt x="66421" y="30480"/>
                  </a:lnTo>
                  <a:lnTo>
                    <a:pt x="66421" y="33020"/>
                  </a:lnTo>
                  <a:lnTo>
                    <a:pt x="63881" y="33020"/>
                  </a:lnTo>
                  <a:lnTo>
                    <a:pt x="63881" y="2540"/>
                  </a:lnTo>
                  <a:lnTo>
                    <a:pt x="66421" y="2540"/>
                  </a:lnTo>
                  <a:lnTo>
                    <a:pt x="66421" y="5080"/>
                  </a:lnTo>
                  <a:lnTo>
                    <a:pt x="23241" y="5080"/>
                  </a:lnTo>
                  <a:lnTo>
                    <a:pt x="23241" y="2540"/>
                  </a:lnTo>
                  <a:lnTo>
                    <a:pt x="25781" y="2540"/>
                  </a:lnTo>
                  <a:lnTo>
                    <a:pt x="25781" y="1270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4518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4309" y="76200"/>
              <a:ext cx="38100" cy="7620"/>
            </a:xfrm>
            <a:custGeom>
              <a:avLst/>
              <a:gdLst/>
              <a:ahLst/>
              <a:cxnLst/>
              <a:rect r="r" b="b" t="t" l="l"/>
              <a:pathLst>
                <a:path h="762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5409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1609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52627" y="63500"/>
              <a:ext cx="50800" cy="33020"/>
            </a:xfrm>
            <a:custGeom>
              <a:avLst/>
              <a:gdLst/>
              <a:ahLst/>
              <a:cxnLst/>
              <a:rect r="r" b="b" t="t" l="l"/>
              <a:pathLst>
                <a:path h="330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6427" y="73660"/>
              <a:ext cx="203200" cy="38100"/>
            </a:xfrm>
            <a:custGeom>
              <a:avLst/>
              <a:gdLst/>
              <a:ahLst/>
              <a:cxnLst/>
              <a:rect r="r" b="b" t="t" l="l"/>
              <a:pathLst>
                <a:path h="38100" w="203200">
                  <a:moveTo>
                    <a:pt x="25400" y="38100"/>
                  </a:moveTo>
                  <a:lnTo>
                    <a:pt x="0" y="19050"/>
                  </a:lnTo>
                  <a:lnTo>
                    <a:pt x="25400" y="0"/>
                  </a:lnTo>
                  <a:moveTo>
                    <a:pt x="177800" y="38100"/>
                  </a:moveTo>
                  <a:lnTo>
                    <a:pt x="203200" y="19050"/>
                  </a:lnTo>
                  <a:lnTo>
                    <a:pt x="177800" y="0"/>
                  </a:lnTo>
                </a:path>
              </a:pathLst>
            </a:custGeom>
            <a:solidFill>
              <a:srgbClr val="D6D6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52627" y="101600"/>
              <a:ext cx="50800" cy="20320"/>
            </a:xfrm>
            <a:custGeom>
              <a:avLst/>
              <a:gdLst/>
              <a:ahLst/>
              <a:cxnLst/>
              <a:rect r="r" b="b" t="t" l="l"/>
              <a:pathLst>
                <a:path h="203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</a:path>
              </a:pathLst>
            </a:custGeom>
            <a:solidFill>
              <a:srgbClr val="D6D6F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086073" y="3293621"/>
            <a:ext cx="543058" cy="185395"/>
            <a:chOff x="0" y="0"/>
            <a:chExt cx="543065" cy="1853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0800" cy="58420"/>
            </a:xfrm>
            <a:custGeom>
              <a:avLst/>
              <a:gdLst/>
              <a:ahLst/>
              <a:cxnLst/>
              <a:rect r="r" b="b" t="t" l="l"/>
              <a:pathLst>
                <a:path h="58420" w="50800">
                  <a:moveTo>
                    <a:pt x="0" y="0"/>
                  </a:moveTo>
                  <a:lnTo>
                    <a:pt x="38100" y="0"/>
                  </a:lnTo>
                  <a:lnTo>
                    <a:pt x="38100" y="7620"/>
                  </a:lnTo>
                  <a:lnTo>
                    <a:pt x="0" y="7620"/>
                  </a:lnTo>
                  <a:close/>
                  <a:moveTo>
                    <a:pt x="12700" y="12700"/>
                  </a:moveTo>
                  <a:lnTo>
                    <a:pt x="50800" y="12700"/>
                  </a:lnTo>
                  <a:lnTo>
                    <a:pt x="50800" y="20320"/>
                  </a:lnTo>
                  <a:lnTo>
                    <a:pt x="12700" y="20320"/>
                  </a:lnTo>
                  <a:close/>
                  <a:moveTo>
                    <a:pt x="12700" y="25400"/>
                  </a:moveTo>
                  <a:lnTo>
                    <a:pt x="50800" y="25400"/>
                  </a:lnTo>
                  <a:lnTo>
                    <a:pt x="50800" y="33020"/>
                  </a:lnTo>
                  <a:lnTo>
                    <a:pt x="12700" y="33020"/>
                  </a:lnTo>
                  <a:close/>
                  <a:moveTo>
                    <a:pt x="0" y="38100"/>
                  </a:moveTo>
                  <a:lnTo>
                    <a:pt x="38100" y="38100"/>
                  </a:lnTo>
                  <a:lnTo>
                    <a:pt x="38100" y="45720"/>
                  </a:lnTo>
                  <a:lnTo>
                    <a:pt x="0" y="45720"/>
                  </a:lnTo>
                  <a:close/>
                  <a:moveTo>
                    <a:pt x="12700" y="50800"/>
                  </a:moveTo>
                  <a:lnTo>
                    <a:pt x="50800" y="50800"/>
                  </a:lnTo>
                  <a:lnTo>
                    <a:pt x="50800" y="58420"/>
                  </a:lnTo>
                  <a:lnTo>
                    <a:pt x="12700" y="58420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62331" y="95123"/>
              <a:ext cx="25654" cy="25654"/>
            </a:xfrm>
            <a:custGeom>
              <a:avLst/>
              <a:gdLst/>
              <a:ahLst/>
              <a:cxnLst/>
              <a:rect r="r" b="b" t="t" l="l"/>
              <a:pathLst>
                <a:path h="25654" w="25654">
                  <a:moveTo>
                    <a:pt x="5334" y="0"/>
                  </a:moveTo>
                  <a:lnTo>
                    <a:pt x="25654" y="20320"/>
                  </a:lnTo>
                  <a:lnTo>
                    <a:pt x="20320" y="25654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5534" y="68707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30226" y="17780"/>
                  </a:moveTo>
                  <a:cubicBezTo>
                    <a:pt x="30226" y="10795"/>
                    <a:pt x="24511" y="5080"/>
                    <a:pt x="17526" y="5080"/>
                  </a:cubicBezTo>
                  <a:lnTo>
                    <a:pt x="17526" y="2540"/>
                  </a:lnTo>
                  <a:lnTo>
                    <a:pt x="17526" y="5080"/>
                  </a:lnTo>
                  <a:cubicBezTo>
                    <a:pt x="10541" y="5080"/>
                    <a:pt x="4826" y="10795"/>
                    <a:pt x="4826" y="17780"/>
                  </a:cubicBezTo>
                  <a:lnTo>
                    <a:pt x="2286" y="17780"/>
                  </a:lnTo>
                  <a:lnTo>
                    <a:pt x="4826" y="17780"/>
                  </a:lnTo>
                  <a:cubicBezTo>
                    <a:pt x="4826" y="24765"/>
                    <a:pt x="10541" y="30480"/>
                    <a:pt x="17526" y="30480"/>
                  </a:cubicBezTo>
                  <a:lnTo>
                    <a:pt x="17526" y="32893"/>
                  </a:lnTo>
                  <a:lnTo>
                    <a:pt x="17526" y="30353"/>
                  </a:lnTo>
                  <a:cubicBezTo>
                    <a:pt x="24511" y="30353"/>
                    <a:pt x="30226" y="24638"/>
                    <a:pt x="30226" y="17653"/>
                  </a:cubicBezTo>
                  <a:lnTo>
                    <a:pt x="32766" y="17653"/>
                  </a:lnTo>
                  <a:lnTo>
                    <a:pt x="30226" y="17653"/>
                  </a:lnTo>
                  <a:moveTo>
                    <a:pt x="35306" y="17653"/>
                  </a:moveTo>
                  <a:cubicBezTo>
                    <a:pt x="35306" y="27432"/>
                    <a:pt x="27432" y="35306"/>
                    <a:pt x="17653" y="35306"/>
                  </a:cubicBezTo>
                  <a:cubicBezTo>
                    <a:pt x="7874" y="35306"/>
                    <a:pt x="0" y="27432"/>
                    <a:pt x="0" y="17653"/>
                  </a:cubicBezTo>
                  <a:cubicBezTo>
                    <a:pt x="0" y="7874"/>
                    <a:pt x="7874" y="0"/>
                    <a:pt x="17653" y="0"/>
                  </a:cubicBezTo>
                  <a:cubicBezTo>
                    <a:pt x="27432" y="0"/>
                    <a:pt x="35306" y="7874"/>
                    <a:pt x="35306" y="17653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0157" y="64770"/>
              <a:ext cx="239268" cy="55880"/>
            </a:xfrm>
            <a:custGeom>
              <a:avLst/>
              <a:gdLst/>
              <a:ahLst/>
              <a:cxnLst/>
              <a:rect r="r" b="b" t="t" l="l"/>
              <a:pathLst>
                <a:path h="55880" w="239268">
                  <a:moveTo>
                    <a:pt x="43561" y="50800"/>
                  </a:moveTo>
                  <a:cubicBezTo>
                    <a:pt x="55880" y="50800"/>
                    <a:pt x="66421" y="40513"/>
                    <a:pt x="66421" y="27940"/>
                  </a:cubicBezTo>
                  <a:lnTo>
                    <a:pt x="68961" y="27940"/>
                  </a:lnTo>
                  <a:lnTo>
                    <a:pt x="66421" y="27940"/>
                  </a:lnTo>
                  <a:cubicBezTo>
                    <a:pt x="66421" y="15367"/>
                    <a:pt x="56134" y="5080"/>
                    <a:pt x="43561" y="5080"/>
                  </a:cubicBezTo>
                  <a:lnTo>
                    <a:pt x="43561" y="2540"/>
                  </a:lnTo>
                  <a:lnTo>
                    <a:pt x="43561" y="5080"/>
                  </a:lnTo>
                  <a:cubicBezTo>
                    <a:pt x="30988" y="5080"/>
                    <a:pt x="20701" y="15367"/>
                    <a:pt x="20701" y="27940"/>
                  </a:cubicBezTo>
                  <a:cubicBezTo>
                    <a:pt x="20701" y="29337"/>
                    <a:pt x="19558" y="30480"/>
                    <a:pt x="18161" y="30480"/>
                  </a:cubicBezTo>
                  <a:cubicBezTo>
                    <a:pt x="16764" y="30480"/>
                    <a:pt x="15621" y="29337"/>
                    <a:pt x="15621" y="27940"/>
                  </a:cubicBezTo>
                  <a:cubicBezTo>
                    <a:pt x="15621" y="12573"/>
                    <a:pt x="28194" y="0"/>
                    <a:pt x="43561" y="0"/>
                  </a:cubicBezTo>
                  <a:cubicBezTo>
                    <a:pt x="58928" y="0"/>
                    <a:pt x="71501" y="12573"/>
                    <a:pt x="71501" y="27940"/>
                  </a:cubicBezTo>
                  <a:cubicBezTo>
                    <a:pt x="71501" y="43307"/>
                    <a:pt x="58674" y="55880"/>
                    <a:pt x="43561" y="55880"/>
                  </a:cubicBezTo>
                  <a:cubicBezTo>
                    <a:pt x="42164" y="55880"/>
                    <a:pt x="41021" y="54737"/>
                    <a:pt x="41021" y="53340"/>
                  </a:cubicBezTo>
                  <a:cubicBezTo>
                    <a:pt x="41021" y="51943"/>
                    <a:pt x="42164" y="50800"/>
                    <a:pt x="43561" y="50800"/>
                  </a:cubicBezTo>
                  <a:close/>
                  <a:moveTo>
                    <a:pt x="35052" y="22225"/>
                  </a:moveTo>
                  <a:lnTo>
                    <a:pt x="19812" y="34925"/>
                  </a:lnTo>
                  <a:lnTo>
                    <a:pt x="18161" y="36322"/>
                  </a:lnTo>
                  <a:lnTo>
                    <a:pt x="16510" y="34925"/>
                  </a:lnTo>
                  <a:lnTo>
                    <a:pt x="1270" y="22225"/>
                  </a:lnTo>
                  <a:cubicBezTo>
                    <a:pt x="254" y="21336"/>
                    <a:pt x="0" y="19685"/>
                    <a:pt x="889" y="18669"/>
                  </a:cubicBezTo>
                  <a:cubicBezTo>
                    <a:pt x="1778" y="17653"/>
                    <a:pt x="3429" y="17399"/>
                    <a:pt x="4445" y="18288"/>
                  </a:cubicBezTo>
                  <a:lnTo>
                    <a:pt x="19685" y="30988"/>
                  </a:lnTo>
                  <a:lnTo>
                    <a:pt x="18034" y="32893"/>
                  </a:lnTo>
                  <a:lnTo>
                    <a:pt x="16383" y="30988"/>
                  </a:lnTo>
                  <a:lnTo>
                    <a:pt x="31623" y="18288"/>
                  </a:lnTo>
                  <a:cubicBezTo>
                    <a:pt x="32639" y="17399"/>
                    <a:pt x="34290" y="17526"/>
                    <a:pt x="35179" y="18669"/>
                  </a:cubicBezTo>
                  <a:cubicBezTo>
                    <a:pt x="36068" y="19812"/>
                    <a:pt x="35941" y="21336"/>
                    <a:pt x="34798" y="22225"/>
                  </a:cubicBezTo>
                  <a:close/>
                  <a:moveTo>
                    <a:pt x="195961" y="55880"/>
                  </a:moveTo>
                  <a:cubicBezTo>
                    <a:pt x="180594" y="55880"/>
                    <a:pt x="168021" y="43307"/>
                    <a:pt x="168021" y="27940"/>
                  </a:cubicBezTo>
                  <a:lnTo>
                    <a:pt x="170561" y="27940"/>
                  </a:lnTo>
                  <a:lnTo>
                    <a:pt x="168021" y="27940"/>
                  </a:lnTo>
                  <a:cubicBezTo>
                    <a:pt x="168021" y="12573"/>
                    <a:pt x="180594" y="0"/>
                    <a:pt x="195961" y="0"/>
                  </a:cubicBezTo>
                  <a:lnTo>
                    <a:pt x="195961" y="2540"/>
                  </a:lnTo>
                  <a:lnTo>
                    <a:pt x="195961" y="0"/>
                  </a:lnTo>
                  <a:cubicBezTo>
                    <a:pt x="211328" y="0"/>
                    <a:pt x="223901" y="12573"/>
                    <a:pt x="223901" y="27940"/>
                  </a:cubicBezTo>
                  <a:cubicBezTo>
                    <a:pt x="223901" y="29337"/>
                    <a:pt x="222758" y="30480"/>
                    <a:pt x="221361" y="30480"/>
                  </a:cubicBezTo>
                  <a:cubicBezTo>
                    <a:pt x="219964" y="30480"/>
                    <a:pt x="218821" y="29337"/>
                    <a:pt x="218821" y="27940"/>
                  </a:cubicBezTo>
                  <a:cubicBezTo>
                    <a:pt x="218821" y="15367"/>
                    <a:pt x="208534" y="5080"/>
                    <a:pt x="195961" y="5080"/>
                  </a:cubicBezTo>
                  <a:cubicBezTo>
                    <a:pt x="183388" y="5080"/>
                    <a:pt x="173101" y="15367"/>
                    <a:pt x="173101" y="27940"/>
                  </a:cubicBezTo>
                  <a:cubicBezTo>
                    <a:pt x="173101" y="40513"/>
                    <a:pt x="183388" y="50800"/>
                    <a:pt x="195961" y="50800"/>
                  </a:cubicBezTo>
                  <a:cubicBezTo>
                    <a:pt x="197358" y="50800"/>
                    <a:pt x="198501" y="51943"/>
                    <a:pt x="198501" y="53340"/>
                  </a:cubicBezTo>
                  <a:cubicBezTo>
                    <a:pt x="198501" y="54737"/>
                    <a:pt x="197358" y="55880"/>
                    <a:pt x="195961" y="55880"/>
                  </a:cubicBezTo>
                  <a:close/>
                  <a:moveTo>
                    <a:pt x="238252" y="22225"/>
                  </a:moveTo>
                  <a:lnTo>
                    <a:pt x="223012" y="34925"/>
                  </a:lnTo>
                  <a:lnTo>
                    <a:pt x="221361" y="36322"/>
                  </a:lnTo>
                  <a:lnTo>
                    <a:pt x="219710" y="34925"/>
                  </a:lnTo>
                  <a:lnTo>
                    <a:pt x="204470" y="22225"/>
                  </a:lnTo>
                  <a:cubicBezTo>
                    <a:pt x="203454" y="21336"/>
                    <a:pt x="203200" y="19685"/>
                    <a:pt x="204089" y="18669"/>
                  </a:cubicBezTo>
                  <a:cubicBezTo>
                    <a:pt x="204978" y="17653"/>
                    <a:pt x="206629" y="17399"/>
                    <a:pt x="207645" y="18288"/>
                  </a:cubicBezTo>
                  <a:lnTo>
                    <a:pt x="222885" y="30988"/>
                  </a:lnTo>
                  <a:lnTo>
                    <a:pt x="221234" y="32893"/>
                  </a:lnTo>
                  <a:lnTo>
                    <a:pt x="219583" y="30988"/>
                  </a:lnTo>
                  <a:lnTo>
                    <a:pt x="234823" y="18288"/>
                  </a:lnTo>
                  <a:cubicBezTo>
                    <a:pt x="235839" y="17399"/>
                    <a:pt x="237490" y="17526"/>
                    <a:pt x="238379" y="18669"/>
                  </a:cubicBezTo>
                  <a:cubicBezTo>
                    <a:pt x="239268" y="19812"/>
                    <a:pt x="239141" y="21336"/>
                    <a:pt x="237998" y="22225"/>
                  </a:cubicBezTo>
                  <a:close/>
                </a:path>
              </a:pathLst>
            </a:custGeom>
            <a:solidFill>
              <a:srgbClr val="ADADE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8004" y="78172"/>
            <a:ext cx="802053" cy="24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3333B3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References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7099" y="1625260"/>
            <a:ext cx="944832" cy="20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K.,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al.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(2025).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7099" y="1865652"/>
            <a:ext cx="1154182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arXiv:2503.06161.</a:t>
            </a:r>
          </a:p>
          <a:p>
            <a:pPr algn="l">
              <a:lnSpc>
                <a:spcPts val="1195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Huang,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Y.,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al.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(2024).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7099" y="2378078"/>
            <a:ext cx="1281217" cy="20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Chen,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Y.,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Wang,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H.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(2024).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7099" y="2618470"/>
            <a:ext cx="822007" cy="20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arXiv:2401.13352.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16427" y="2157022"/>
            <a:ext cx="1937537" cy="1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Endo-4DGS: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Endoscopic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Monocular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Scene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7099" y="2277208"/>
            <a:ext cx="3539528" cy="10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Reconstruction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4D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Gaussian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Splatting.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preprint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arXiv:2401.16416.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41033" y="2378078"/>
            <a:ext cx="2166747" cy="20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EndoGaussians: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Single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View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Dynamic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Gaussian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7099" y="2650684"/>
            <a:ext cx="3472748" cy="5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Splatting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Deformable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Endoscopic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Tissues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Reconstruction.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preprint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7099" y="762038"/>
            <a:ext cx="3665144" cy="869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6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Liu,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Y.,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C.,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Yang,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C.,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Yuan,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Y.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(2024).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EndoGaussian: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Splatting</a:t>
            </a:r>
          </a:p>
          <a:p>
            <a:pPr algn="just">
              <a:lnSpc>
                <a:spcPts val="946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Deformable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Surgical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Scene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Reconstruction.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preprint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arXiv:2401.12561.</a:t>
            </a:r>
          </a:p>
          <a:p>
            <a:pPr algn="just">
              <a:lnSpc>
                <a:spcPts val="1992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Zhu,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L.,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et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(2024).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EndoGS: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Deformable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Endoscopic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Tissues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Reconstruction</a:t>
            </a:r>
          </a:p>
          <a:p>
            <a:pPr algn="just">
              <a:lnSpc>
                <a:spcPts val="398"/>
              </a:lnSpc>
            </a:pP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Gaussian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Splatting.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arXiv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preprint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97" spc="-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arXiv:2401.11535.</a:t>
            </a:r>
          </a:p>
          <a:p>
            <a:pPr algn="just">
              <a:lnSpc>
                <a:spcPts val="1992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Xie,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W.,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et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(2024).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SurgicalGaussian: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Deformable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3D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Gaussians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</a:p>
          <a:p>
            <a:pPr algn="just">
              <a:lnSpc>
                <a:spcPts val="398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High-Fidelity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Surgical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Scene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Reconstruction.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preprint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arXiv:2407.05023.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1173" y="1625260"/>
            <a:ext cx="2285238" cy="20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2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Feature-EndoGaussian: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Distilled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Gaussian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7099" y="1897847"/>
            <a:ext cx="3216526" cy="5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"/>
              </a:lnSpc>
            </a:pP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Splatting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Surgical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Deformable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Scene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Reconstruction.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797" spc="-1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DAGl4haxe0k</dc:identifier>
  <dcterms:modified xsi:type="dcterms:W3CDTF">2011-08-01T06:04:30Z</dcterms:modified>
  <cp:revision>1</cp:revision>
  <dc:title>SWE_Orthographic Gaussian Splatting for Volumetric Anatomical Visualization_Presentation.pdf</dc:title>
</cp:coreProperties>
</file>